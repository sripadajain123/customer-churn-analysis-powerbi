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1"/>
  </p:notesMasterIdLst>
  <p:sldIdLst>
    <p:sldId id="257" r:id="rId2"/>
    <p:sldId id="256" r:id="rId3"/>
    <p:sldId id="258" r:id="rId4"/>
    <p:sldId id="259" r:id="rId5"/>
    <p:sldId id="260" r:id="rId6"/>
    <p:sldId id="261" r:id="rId7"/>
    <p:sldId id="262" r:id="rId8"/>
    <p:sldId id="266" r:id="rId9"/>
    <p:sldId id="267" r:id="rId10"/>
    <p:sldId id="271" r:id="rId11"/>
    <p:sldId id="272" r:id="rId12"/>
    <p:sldId id="275" r:id="rId13"/>
    <p:sldId id="276" r:id="rId14"/>
    <p:sldId id="280" r:id="rId15"/>
    <p:sldId id="283" r:id="rId16"/>
    <p:sldId id="284" r:id="rId17"/>
    <p:sldId id="286" r:id="rId18"/>
    <p:sldId id="288" r:id="rId19"/>
    <p:sldId id="29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6093E5-0173-4A98-AA25-7CDF84BD1131}" v="2" dt="2025-11-13T15:25:48.1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pada Jain" userId="737782f5769f07ca" providerId="LiveId" clId="{638AAE7F-7A4E-4F13-B2E9-C7F4641CD512}"/>
    <pc:docChg chg="undo custSel addSld delSld modSld">
      <pc:chgData name="Sripada Jain" userId="737782f5769f07ca" providerId="LiveId" clId="{638AAE7F-7A4E-4F13-B2E9-C7F4641CD512}" dt="2025-11-13T15:25:59.756" v="117" actId="207"/>
      <pc:docMkLst>
        <pc:docMk/>
      </pc:docMkLst>
      <pc:sldChg chg="modSp mod">
        <pc:chgData name="Sripada Jain" userId="737782f5769f07ca" providerId="LiveId" clId="{638AAE7F-7A4E-4F13-B2E9-C7F4641CD512}" dt="2025-11-13T15:22:23.858" v="85" actId="1076"/>
        <pc:sldMkLst>
          <pc:docMk/>
          <pc:sldMk cId="3965439026" sldId="256"/>
        </pc:sldMkLst>
        <pc:spChg chg="mod">
          <ac:chgData name="Sripada Jain" userId="737782f5769f07ca" providerId="LiveId" clId="{638AAE7F-7A4E-4F13-B2E9-C7F4641CD512}" dt="2025-11-13T15:22:16.068" v="84" actId="207"/>
          <ac:spMkLst>
            <pc:docMk/>
            <pc:sldMk cId="3965439026" sldId="256"/>
            <ac:spMk id="2" creationId="{7E9D5A3D-F422-89A0-62BD-5FA02C9E2162}"/>
          </ac:spMkLst>
        </pc:spChg>
        <pc:spChg chg="mod">
          <ac:chgData name="Sripada Jain" userId="737782f5769f07ca" providerId="LiveId" clId="{638AAE7F-7A4E-4F13-B2E9-C7F4641CD512}" dt="2025-11-13T15:22:23.858" v="85" actId="1076"/>
          <ac:spMkLst>
            <pc:docMk/>
            <pc:sldMk cId="3965439026" sldId="256"/>
            <ac:spMk id="3" creationId="{2D8C4E7A-6947-1B86-D530-ED974252F0D0}"/>
          </ac:spMkLst>
        </pc:spChg>
      </pc:sldChg>
      <pc:sldChg chg="addSp delSp modSp mod">
        <pc:chgData name="Sripada Jain" userId="737782f5769f07ca" providerId="LiveId" clId="{638AAE7F-7A4E-4F13-B2E9-C7F4641CD512}" dt="2025-11-13T15:21:55.102" v="82" actId="1076"/>
        <pc:sldMkLst>
          <pc:docMk/>
          <pc:sldMk cId="0" sldId="257"/>
        </pc:sldMkLst>
        <pc:spChg chg="mod">
          <ac:chgData name="Sripada Jain" userId="737782f5769f07ca" providerId="LiveId" clId="{638AAE7F-7A4E-4F13-B2E9-C7F4641CD512}" dt="2025-11-13T15:15:29.030" v="20" actId="20577"/>
          <ac:spMkLst>
            <pc:docMk/>
            <pc:sldMk cId="0" sldId="257"/>
            <ac:spMk id="3" creationId="{27EF971C-792E-7458-68FE-8997B843E939}"/>
          </ac:spMkLst>
        </pc:spChg>
        <pc:spChg chg="add del mod">
          <ac:chgData name="Sripada Jain" userId="737782f5769f07ca" providerId="LiveId" clId="{638AAE7F-7A4E-4F13-B2E9-C7F4641CD512}" dt="2025-11-13T15:17:55.287" v="43" actId="21"/>
          <ac:spMkLst>
            <pc:docMk/>
            <pc:sldMk cId="0" sldId="257"/>
            <ac:spMk id="4" creationId="{901064AA-7E2B-D8EE-BC54-1A28AB7ED1D7}"/>
          </ac:spMkLst>
        </pc:spChg>
        <pc:spChg chg="mod">
          <ac:chgData name="Sripada Jain" userId="737782f5769f07ca" providerId="LiveId" clId="{638AAE7F-7A4E-4F13-B2E9-C7F4641CD512}" dt="2025-11-13T15:21:36.435" v="80" actId="1076"/>
          <ac:spMkLst>
            <pc:docMk/>
            <pc:sldMk cId="0" sldId="257"/>
            <ac:spMk id="99" creationId="{00000000-0000-0000-0000-000000000000}"/>
          </ac:spMkLst>
        </pc:spChg>
        <pc:picChg chg="mod">
          <ac:chgData name="Sripada Jain" userId="737782f5769f07ca" providerId="LiveId" clId="{638AAE7F-7A4E-4F13-B2E9-C7F4641CD512}" dt="2025-11-13T15:21:55.102" v="82" actId="1076"/>
          <ac:picMkLst>
            <pc:docMk/>
            <pc:sldMk cId="0" sldId="257"/>
            <ac:picMk id="98" creationId="{00000000-0000-0000-0000-000000000000}"/>
          </ac:picMkLst>
        </pc:picChg>
      </pc:sldChg>
      <pc:sldChg chg="modSp mod">
        <pc:chgData name="Sripada Jain" userId="737782f5769f07ca" providerId="LiveId" clId="{638AAE7F-7A4E-4F13-B2E9-C7F4641CD512}" dt="2025-11-13T15:22:31.374" v="86" actId="207"/>
        <pc:sldMkLst>
          <pc:docMk/>
          <pc:sldMk cId="1444428288" sldId="258"/>
        </pc:sldMkLst>
        <pc:spChg chg="mod">
          <ac:chgData name="Sripada Jain" userId="737782f5769f07ca" providerId="LiveId" clId="{638AAE7F-7A4E-4F13-B2E9-C7F4641CD512}" dt="2025-11-13T15:22:31.374" v="86" actId="207"/>
          <ac:spMkLst>
            <pc:docMk/>
            <pc:sldMk cId="1444428288" sldId="258"/>
            <ac:spMk id="2" creationId="{B5CDE2BD-F4F8-0EAD-5D1F-A219278355E8}"/>
          </ac:spMkLst>
        </pc:spChg>
      </pc:sldChg>
      <pc:sldChg chg="modSp mod">
        <pc:chgData name="Sripada Jain" userId="737782f5769f07ca" providerId="LiveId" clId="{638AAE7F-7A4E-4F13-B2E9-C7F4641CD512}" dt="2025-11-13T15:22:49.046" v="88" actId="1076"/>
        <pc:sldMkLst>
          <pc:docMk/>
          <pc:sldMk cId="2485794170" sldId="259"/>
        </pc:sldMkLst>
        <pc:spChg chg="mod">
          <ac:chgData name="Sripada Jain" userId="737782f5769f07ca" providerId="LiveId" clId="{638AAE7F-7A4E-4F13-B2E9-C7F4641CD512}" dt="2025-11-13T15:22:49.046" v="88" actId="1076"/>
          <ac:spMkLst>
            <pc:docMk/>
            <pc:sldMk cId="2485794170" sldId="259"/>
            <ac:spMk id="2" creationId="{FBE89C5E-D720-97A0-1F06-6E76BF1B9943}"/>
          </ac:spMkLst>
        </pc:spChg>
      </pc:sldChg>
      <pc:sldChg chg="modSp mod">
        <pc:chgData name="Sripada Jain" userId="737782f5769f07ca" providerId="LiveId" clId="{638AAE7F-7A4E-4F13-B2E9-C7F4641CD512}" dt="2025-11-13T15:23:31.161" v="95" actId="14100"/>
        <pc:sldMkLst>
          <pc:docMk/>
          <pc:sldMk cId="4259394954" sldId="260"/>
        </pc:sldMkLst>
        <pc:spChg chg="mod">
          <ac:chgData name="Sripada Jain" userId="737782f5769f07ca" providerId="LiveId" clId="{638AAE7F-7A4E-4F13-B2E9-C7F4641CD512}" dt="2025-11-13T15:23:24.591" v="94" actId="1076"/>
          <ac:spMkLst>
            <pc:docMk/>
            <pc:sldMk cId="4259394954" sldId="260"/>
            <ac:spMk id="2" creationId="{3A6BE9B4-A12C-EDA6-7DCA-8F4C9C0D73C2}"/>
          </ac:spMkLst>
        </pc:spChg>
        <pc:spChg chg="mod">
          <ac:chgData name="Sripada Jain" userId="737782f5769f07ca" providerId="LiveId" clId="{638AAE7F-7A4E-4F13-B2E9-C7F4641CD512}" dt="2025-11-13T15:23:31.161" v="95" actId="14100"/>
          <ac:spMkLst>
            <pc:docMk/>
            <pc:sldMk cId="4259394954" sldId="260"/>
            <ac:spMk id="3" creationId="{23A7A900-5FE3-8FCD-6A5F-1A5BCBCF843A}"/>
          </ac:spMkLst>
        </pc:spChg>
      </pc:sldChg>
      <pc:sldChg chg="modSp mod">
        <pc:chgData name="Sripada Jain" userId="737782f5769f07ca" providerId="LiveId" clId="{638AAE7F-7A4E-4F13-B2E9-C7F4641CD512}" dt="2025-11-13T15:23:50.830" v="100" actId="1076"/>
        <pc:sldMkLst>
          <pc:docMk/>
          <pc:sldMk cId="1028952486" sldId="261"/>
        </pc:sldMkLst>
        <pc:spChg chg="mod">
          <ac:chgData name="Sripada Jain" userId="737782f5769f07ca" providerId="LiveId" clId="{638AAE7F-7A4E-4F13-B2E9-C7F4641CD512}" dt="2025-11-13T15:23:50.830" v="100" actId="1076"/>
          <ac:spMkLst>
            <pc:docMk/>
            <pc:sldMk cId="1028952486" sldId="261"/>
            <ac:spMk id="2" creationId="{54B5D5AC-B146-73C1-A4A4-BA8DE2B389E3}"/>
          </ac:spMkLst>
        </pc:spChg>
      </pc:sldChg>
      <pc:sldChg chg="modSp mod">
        <pc:chgData name="Sripada Jain" userId="737782f5769f07ca" providerId="LiveId" clId="{638AAE7F-7A4E-4F13-B2E9-C7F4641CD512}" dt="2025-11-13T15:24:00.878" v="102" actId="207"/>
        <pc:sldMkLst>
          <pc:docMk/>
          <pc:sldMk cId="2943208400" sldId="262"/>
        </pc:sldMkLst>
        <pc:spChg chg="mod">
          <ac:chgData name="Sripada Jain" userId="737782f5769f07ca" providerId="LiveId" clId="{638AAE7F-7A4E-4F13-B2E9-C7F4641CD512}" dt="2025-11-13T15:24:00.878" v="102" actId="207"/>
          <ac:spMkLst>
            <pc:docMk/>
            <pc:sldMk cId="2943208400" sldId="262"/>
            <ac:spMk id="2" creationId="{14DAEB19-739B-673F-1DE3-8F2EE87A0EEA}"/>
          </ac:spMkLst>
        </pc:spChg>
      </pc:sldChg>
      <pc:sldChg chg="modSp mod">
        <pc:chgData name="Sripada Jain" userId="737782f5769f07ca" providerId="LiveId" clId="{638AAE7F-7A4E-4F13-B2E9-C7F4641CD512}" dt="2025-11-13T15:24:15.708" v="103" actId="207"/>
        <pc:sldMkLst>
          <pc:docMk/>
          <pc:sldMk cId="927393648" sldId="266"/>
        </pc:sldMkLst>
        <pc:spChg chg="mod">
          <ac:chgData name="Sripada Jain" userId="737782f5769f07ca" providerId="LiveId" clId="{638AAE7F-7A4E-4F13-B2E9-C7F4641CD512}" dt="2025-11-13T15:24:15.708" v="103" actId="207"/>
          <ac:spMkLst>
            <pc:docMk/>
            <pc:sldMk cId="927393648" sldId="266"/>
            <ac:spMk id="2" creationId="{A4B06600-7744-2943-1743-AC3A65E456B5}"/>
          </ac:spMkLst>
        </pc:spChg>
      </pc:sldChg>
      <pc:sldChg chg="modSp mod">
        <pc:chgData name="Sripada Jain" userId="737782f5769f07ca" providerId="LiveId" clId="{638AAE7F-7A4E-4F13-B2E9-C7F4641CD512}" dt="2025-11-13T15:24:24.830" v="104" actId="207"/>
        <pc:sldMkLst>
          <pc:docMk/>
          <pc:sldMk cId="3922887587" sldId="271"/>
        </pc:sldMkLst>
        <pc:spChg chg="mod">
          <ac:chgData name="Sripada Jain" userId="737782f5769f07ca" providerId="LiveId" clId="{638AAE7F-7A4E-4F13-B2E9-C7F4641CD512}" dt="2025-11-13T15:24:24.830" v="104" actId="207"/>
          <ac:spMkLst>
            <pc:docMk/>
            <pc:sldMk cId="3922887587" sldId="271"/>
            <ac:spMk id="2" creationId="{A3379928-2EDF-9F22-503C-54F5A812BC0B}"/>
          </ac:spMkLst>
        </pc:spChg>
      </pc:sldChg>
      <pc:sldChg chg="modSp mod">
        <pc:chgData name="Sripada Jain" userId="737782f5769f07ca" providerId="LiveId" clId="{638AAE7F-7A4E-4F13-B2E9-C7F4641CD512}" dt="2025-11-13T15:24:32.646" v="105" actId="207"/>
        <pc:sldMkLst>
          <pc:docMk/>
          <pc:sldMk cId="466824601" sldId="275"/>
        </pc:sldMkLst>
        <pc:spChg chg="mod">
          <ac:chgData name="Sripada Jain" userId="737782f5769f07ca" providerId="LiveId" clId="{638AAE7F-7A4E-4F13-B2E9-C7F4641CD512}" dt="2025-11-13T15:24:32.646" v="105" actId="207"/>
          <ac:spMkLst>
            <pc:docMk/>
            <pc:sldMk cId="466824601" sldId="275"/>
            <ac:spMk id="2" creationId="{2D5B01F0-085E-EA69-624F-F9F19CE958BC}"/>
          </ac:spMkLst>
        </pc:spChg>
      </pc:sldChg>
      <pc:sldChg chg="modSp mod">
        <pc:chgData name="Sripada Jain" userId="737782f5769f07ca" providerId="LiveId" clId="{638AAE7F-7A4E-4F13-B2E9-C7F4641CD512}" dt="2025-11-13T15:24:47.724" v="107" actId="255"/>
        <pc:sldMkLst>
          <pc:docMk/>
          <pc:sldMk cId="4193763945" sldId="280"/>
        </pc:sldMkLst>
        <pc:spChg chg="mod">
          <ac:chgData name="Sripada Jain" userId="737782f5769f07ca" providerId="LiveId" clId="{638AAE7F-7A4E-4F13-B2E9-C7F4641CD512}" dt="2025-11-13T15:24:47.724" v="107" actId="255"/>
          <ac:spMkLst>
            <pc:docMk/>
            <pc:sldMk cId="4193763945" sldId="280"/>
            <ac:spMk id="2" creationId="{16ED5673-0289-B443-4BD6-A272B8D1DC26}"/>
          </ac:spMkLst>
        </pc:spChg>
      </pc:sldChg>
      <pc:sldChg chg="modSp mod">
        <pc:chgData name="Sripada Jain" userId="737782f5769f07ca" providerId="LiveId" clId="{638AAE7F-7A4E-4F13-B2E9-C7F4641CD512}" dt="2025-11-13T15:25:30.060" v="113" actId="1076"/>
        <pc:sldMkLst>
          <pc:docMk/>
          <pc:sldMk cId="731036065" sldId="284"/>
        </pc:sldMkLst>
        <pc:spChg chg="mod">
          <ac:chgData name="Sripada Jain" userId="737782f5769f07ca" providerId="LiveId" clId="{638AAE7F-7A4E-4F13-B2E9-C7F4641CD512}" dt="2025-11-13T15:25:25.892" v="112" actId="1076"/>
          <ac:spMkLst>
            <pc:docMk/>
            <pc:sldMk cId="731036065" sldId="284"/>
            <ac:spMk id="2" creationId="{0F2EB900-EC28-D3CF-D634-8657D003E10D}"/>
          </ac:spMkLst>
        </pc:spChg>
        <pc:spChg chg="mod">
          <ac:chgData name="Sripada Jain" userId="737782f5769f07ca" providerId="LiveId" clId="{638AAE7F-7A4E-4F13-B2E9-C7F4641CD512}" dt="2025-11-13T15:25:30.060" v="113" actId="1076"/>
          <ac:spMkLst>
            <pc:docMk/>
            <pc:sldMk cId="731036065" sldId="284"/>
            <ac:spMk id="4" creationId="{881AD49F-9B58-B641-F5C2-2A672F3069BB}"/>
          </ac:spMkLst>
        </pc:spChg>
      </pc:sldChg>
      <pc:sldChg chg="modSp mod">
        <pc:chgData name="Sripada Jain" userId="737782f5769f07ca" providerId="LiveId" clId="{638AAE7F-7A4E-4F13-B2E9-C7F4641CD512}" dt="2025-11-13T15:25:48.134" v="116" actId="1076"/>
        <pc:sldMkLst>
          <pc:docMk/>
          <pc:sldMk cId="3497642385" sldId="286"/>
        </pc:sldMkLst>
        <pc:spChg chg="mod">
          <ac:chgData name="Sripada Jain" userId="737782f5769f07ca" providerId="LiveId" clId="{638AAE7F-7A4E-4F13-B2E9-C7F4641CD512}" dt="2025-11-13T15:25:42.401" v="115" actId="1076"/>
          <ac:spMkLst>
            <pc:docMk/>
            <pc:sldMk cId="3497642385" sldId="286"/>
            <ac:spMk id="2" creationId="{D42E3199-1ED2-666F-F80E-A4FDE8AB0911}"/>
          </ac:spMkLst>
        </pc:spChg>
        <pc:spChg chg="mod">
          <ac:chgData name="Sripada Jain" userId="737782f5769f07ca" providerId="LiveId" clId="{638AAE7F-7A4E-4F13-B2E9-C7F4641CD512}" dt="2025-11-13T15:25:48.134" v="116" actId="1076"/>
          <ac:spMkLst>
            <pc:docMk/>
            <pc:sldMk cId="3497642385" sldId="286"/>
            <ac:spMk id="4" creationId="{58D41C00-64E6-CDFF-E499-E820BE8455B3}"/>
          </ac:spMkLst>
        </pc:spChg>
      </pc:sldChg>
      <pc:sldChg chg="modSp mod">
        <pc:chgData name="Sripada Jain" userId="737782f5769f07ca" providerId="LiveId" clId="{638AAE7F-7A4E-4F13-B2E9-C7F4641CD512}" dt="2025-11-13T15:25:59.756" v="117" actId="207"/>
        <pc:sldMkLst>
          <pc:docMk/>
          <pc:sldMk cId="608741228" sldId="288"/>
        </pc:sldMkLst>
        <pc:spChg chg="mod">
          <ac:chgData name="Sripada Jain" userId="737782f5769f07ca" providerId="LiveId" clId="{638AAE7F-7A4E-4F13-B2E9-C7F4641CD512}" dt="2025-11-13T15:25:59.756" v="117" actId="207"/>
          <ac:spMkLst>
            <pc:docMk/>
            <pc:sldMk cId="608741228" sldId="288"/>
            <ac:spMk id="2" creationId="{3F7DE8DD-E25D-7EB1-5C1B-5967EE18D458}"/>
          </ac:spMkLst>
        </pc:spChg>
      </pc:sldChg>
      <pc:sldChg chg="new del">
        <pc:chgData name="Sripada Jain" userId="737782f5769f07ca" providerId="LiveId" clId="{638AAE7F-7A4E-4F13-B2E9-C7F4641CD512}" dt="2025-11-13T15:16:13.965" v="23" actId="2696"/>
        <pc:sldMkLst>
          <pc:docMk/>
          <pc:sldMk cId="3817479997" sldId="291"/>
        </pc:sldMkLst>
      </pc:sldChg>
      <pc:sldChg chg="modSp new del mod">
        <pc:chgData name="Sripada Jain" userId="737782f5769f07ca" providerId="LiveId" clId="{638AAE7F-7A4E-4F13-B2E9-C7F4641CD512}" dt="2025-11-13T15:22:00.451" v="83" actId="2696"/>
        <pc:sldMkLst>
          <pc:docMk/>
          <pc:sldMk cId="747469915" sldId="292"/>
        </pc:sldMkLst>
        <pc:spChg chg="mod">
          <ac:chgData name="Sripada Jain" userId="737782f5769f07ca" providerId="LiveId" clId="{638AAE7F-7A4E-4F13-B2E9-C7F4641CD512}" dt="2025-11-13T15:16:43.762" v="34" actId="113"/>
          <ac:spMkLst>
            <pc:docMk/>
            <pc:sldMk cId="747469915" sldId="292"/>
            <ac:spMk id="2" creationId="{63D6C54C-8164-7883-0BF7-7DD66D6302A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97337B-7C99-4D80-B04B-DAE85944C2EF}"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8C4F21-20C3-4B97-908B-312CBF5BE7D4}" type="slidenum">
              <a:rPr lang="en-US" smtClean="0"/>
              <a:t>‹#›</a:t>
            </a:fld>
            <a:endParaRPr lang="en-US"/>
          </a:p>
        </p:txBody>
      </p:sp>
    </p:spTree>
    <p:extLst>
      <p:ext uri="{BB962C8B-B14F-4D97-AF65-F5344CB8AC3E}">
        <p14:creationId xmlns:p14="http://schemas.microsoft.com/office/powerpoint/2010/main" val="2975529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F1116-5D69-8A02-9512-7577EF4DB9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608993-761C-8583-7F52-F9EEA64272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FCD956-6E59-CF7B-26A6-566AD1BB1CB0}"/>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5" name="Footer Placeholder 4">
            <a:extLst>
              <a:ext uri="{FF2B5EF4-FFF2-40B4-BE49-F238E27FC236}">
                <a16:creationId xmlns:a16="http://schemas.microsoft.com/office/drawing/2014/main" id="{5A060091-1216-23F3-8351-B0391C86E2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D69C22-8E80-70C3-82CF-B2A89EDF6684}"/>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2715147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4FBBF-091C-F23C-F01E-9889EB2336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C71CCF-8FC8-D826-FBBF-41AC412BEC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6583E9-5746-D0BB-036B-618090044AC4}"/>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5" name="Footer Placeholder 4">
            <a:extLst>
              <a:ext uri="{FF2B5EF4-FFF2-40B4-BE49-F238E27FC236}">
                <a16:creationId xmlns:a16="http://schemas.microsoft.com/office/drawing/2014/main" id="{5BC1811A-8054-64D0-11E9-D0619FD93A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ECF815-0F3C-6583-424E-655AABBAD508}"/>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1737274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08244-C817-E40A-A1E2-22E2BEFCA4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A3F185-605D-69F5-0983-D310482E3F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DDA856-2244-3D31-6F0E-0DF189A6C01D}"/>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5" name="Footer Placeholder 4">
            <a:extLst>
              <a:ext uri="{FF2B5EF4-FFF2-40B4-BE49-F238E27FC236}">
                <a16:creationId xmlns:a16="http://schemas.microsoft.com/office/drawing/2014/main" id="{E49B6241-419C-F921-FC2E-D270481A58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161B0-083A-B13C-CCDA-6EFE1A074A45}"/>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3888000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498DC-7E4F-5BF9-E79F-6149A13AE9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92C242-3C02-3CCC-58EB-747A659458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82E115-3488-789F-34E2-3C4D5D8C52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842CD4-8623-C7BA-547E-7EDA8C29C0AE}"/>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6" name="Footer Placeholder 5">
            <a:extLst>
              <a:ext uri="{FF2B5EF4-FFF2-40B4-BE49-F238E27FC236}">
                <a16:creationId xmlns:a16="http://schemas.microsoft.com/office/drawing/2014/main" id="{50867402-699A-5E5F-C629-319B07B7BB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EFBFB7-2DCF-4776-9287-87E6DC07BAE8}"/>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2931777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0568E-A6B3-6D98-0FB8-7F68C16599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87C290-4757-097C-1AE9-DBB6540890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189A0B-DE0F-37FD-E7E3-1E5D673730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0D8405-2B90-03E4-79A3-007465E835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6D1E91-8203-F128-A97D-655FFACDED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203AA5-0357-2433-11A4-59D6B532ECC1}"/>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8" name="Footer Placeholder 7">
            <a:extLst>
              <a:ext uri="{FF2B5EF4-FFF2-40B4-BE49-F238E27FC236}">
                <a16:creationId xmlns:a16="http://schemas.microsoft.com/office/drawing/2014/main" id="{41C016AF-5017-EE97-7F2A-72DDA967F4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A152C4-7215-B10F-EB4F-047C34D9FE21}"/>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797179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616C0-37DB-9625-31B6-56AE70A8AC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7348E6-9F87-E1BF-13BE-FBF3D50B6C82}"/>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4" name="Footer Placeholder 3">
            <a:extLst>
              <a:ext uri="{FF2B5EF4-FFF2-40B4-BE49-F238E27FC236}">
                <a16:creationId xmlns:a16="http://schemas.microsoft.com/office/drawing/2014/main" id="{93A7E0A8-44D7-9635-C956-80403C43BB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BEA4BB-AD52-D85E-8885-B5BBC6003046}"/>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2346586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A69EB0-65C4-F1A8-EDE7-0E8A4C1D724A}"/>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3" name="Footer Placeholder 2">
            <a:extLst>
              <a:ext uri="{FF2B5EF4-FFF2-40B4-BE49-F238E27FC236}">
                <a16:creationId xmlns:a16="http://schemas.microsoft.com/office/drawing/2014/main" id="{F23BB419-9485-03B3-F1A5-AC41CAA062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BB0758-BB76-285F-1939-3993D16172FC}"/>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1707823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85CD0-63E1-89DC-8980-DB4AC7EB8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808145-0731-6500-9AD9-500090BDA9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D23D7A-38D9-D718-EFA3-6308DFBFD2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807761-0860-00CE-2C57-F5A5AEFE9C56}"/>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6" name="Footer Placeholder 5">
            <a:extLst>
              <a:ext uri="{FF2B5EF4-FFF2-40B4-BE49-F238E27FC236}">
                <a16:creationId xmlns:a16="http://schemas.microsoft.com/office/drawing/2014/main" id="{7D190195-3578-1827-8076-8D282FD986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D9A67-9E4D-62BC-E79D-684B4C81B61D}"/>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3450545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831FB-C342-7195-C7D2-DB22590A3E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A3E21-046C-651D-3664-3EFFF19021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4E5318-136E-3433-F9CB-E01011630E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A7C5F0-5480-DF9B-0B9E-BD5E753B6621}"/>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6" name="Footer Placeholder 5">
            <a:extLst>
              <a:ext uri="{FF2B5EF4-FFF2-40B4-BE49-F238E27FC236}">
                <a16:creationId xmlns:a16="http://schemas.microsoft.com/office/drawing/2014/main" id="{725A6E93-A07D-2F65-68A7-36FAAB8A58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71096A-4BF8-57C1-F96B-EB99DE1CD938}"/>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3322453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04FEB-0620-56FF-1A0C-1596C41699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4E1A4C-8A20-972F-986C-E7871E978E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1FF8E3-A813-4F77-F5B2-4F697FA5AED3}"/>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5" name="Footer Placeholder 4">
            <a:extLst>
              <a:ext uri="{FF2B5EF4-FFF2-40B4-BE49-F238E27FC236}">
                <a16:creationId xmlns:a16="http://schemas.microsoft.com/office/drawing/2014/main" id="{6597AA55-0AEF-5D6E-DBE8-DC773423CF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B7642B-2C8A-D7BB-8F86-DB9C89E9266C}"/>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479774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B96388-DD7C-5AD1-3D88-A76D8C6800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D817F9-18A6-5BB4-B91E-230AD8B0E9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5F6A5C-C36E-CD01-59B2-645F76C556FC}"/>
              </a:ext>
            </a:extLst>
          </p:cNvPr>
          <p:cNvSpPr>
            <a:spLocks noGrp="1"/>
          </p:cNvSpPr>
          <p:nvPr>
            <p:ph type="dt" sz="half" idx="10"/>
          </p:nvPr>
        </p:nvSpPr>
        <p:spPr/>
        <p:txBody>
          <a:bodyPr/>
          <a:lstStyle/>
          <a:p>
            <a:fld id="{F2ECB54A-C4A2-436C-9A3A-6580E5F17F85}" type="datetimeFigureOut">
              <a:rPr lang="en-US" smtClean="0"/>
              <a:t>11/13/2025</a:t>
            </a:fld>
            <a:endParaRPr lang="en-US"/>
          </a:p>
        </p:txBody>
      </p:sp>
      <p:sp>
        <p:nvSpPr>
          <p:cNvPr id="5" name="Footer Placeholder 4">
            <a:extLst>
              <a:ext uri="{FF2B5EF4-FFF2-40B4-BE49-F238E27FC236}">
                <a16:creationId xmlns:a16="http://schemas.microsoft.com/office/drawing/2014/main" id="{417E9CF2-775F-318D-51B5-CED44E9ED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E9CA0-8349-6FC6-4E97-23D94BF651C2}"/>
              </a:ext>
            </a:extLst>
          </p:cNvPr>
          <p:cNvSpPr>
            <a:spLocks noGrp="1"/>
          </p:cNvSpPr>
          <p:nvPr>
            <p:ph type="sldNum" sz="quarter" idx="12"/>
          </p:nvPr>
        </p:nvSpPr>
        <p:spPr/>
        <p:txBody>
          <a:bodyPr/>
          <a:lstStyle/>
          <a:p>
            <a:fld id="{F4D5F3F1-1C2B-4A1B-8A8E-6C27CD218EF3}" type="slidenum">
              <a:rPr lang="en-US" smtClean="0"/>
              <a:t>‹#›</a:t>
            </a:fld>
            <a:endParaRPr lang="en-US"/>
          </a:p>
        </p:txBody>
      </p:sp>
    </p:spTree>
    <p:extLst>
      <p:ext uri="{BB962C8B-B14F-4D97-AF65-F5344CB8AC3E}">
        <p14:creationId xmlns:p14="http://schemas.microsoft.com/office/powerpoint/2010/main" val="1311463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30FB0C-DFEC-5580-8E93-AFA326D59A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73E3E2-D2D7-4286-C7BC-DFF1CA616D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DFD13-42B5-3266-6F40-A6A49B23BA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ECB54A-C4A2-436C-9A3A-6580E5F17F85}" type="datetimeFigureOut">
              <a:rPr lang="en-US" smtClean="0"/>
              <a:t>11/13/2025</a:t>
            </a:fld>
            <a:endParaRPr lang="en-US"/>
          </a:p>
        </p:txBody>
      </p:sp>
      <p:sp>
        <p:nvSpPr>
          <p:cNvPr id="5" name="Footer Placeholder 4">
            <a:extLst>
              <a:ext uri="{FF2B5EF4-FFF2-40B4-BE49-F238E27FC236}">
                <a16:creationId xmlns:a16="http://schemas.microsoft.com/office/drawing/2014/main" id="{428396CC-0B51-9967-8C3F-D3E8BB3BF9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0270BE-0F03-27B3-36D9-249B928394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D5F3F1-1C2B-4A1B-8A8E-6C27CD218EF3}" type="slidenum">
              <a:rPr lang="en-US" smtClean="0"/>
              <a:t>‹#›</a:t>
            </a:fld>
            <a:endParaRPr lang="en-US"/>
          </a:p>
        </p:txBody>
      </p:sp>
    </p:spTree>
    <p:extLst>
      <p:ext uri="{BB962C8B-B14F-4D97-AF65-F5344CB8AC3E}">
        <p14:creationId xmlns:p14="http://schemas.microsoft.com/office/powerpoint/2010/main" val="371412707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163902"/>
            <a:ext cx="12190815" cy="6694098"/>
          </a:xfrm>
          <a:prstGeom prst="rect">
            <a:avLst/>
          </a:prstGeom>
          <a:noFill/>
          <a:ln>
            <a:noFill/>
          </a:ln>
        </p:spPr>
      </p:pic>
      <p:sp>
        <p:nvSpPr>
          <p:cNvPr id="99" name="Google Shape;99;p1"/>
          <p:cNvSpPr txBox="1"/>
          <p:nvPr/>
        </p:nvSpPr>
        <p:spPr>
          <a:xfrm>
            <a:off x="2529394" y="3587084"/>
            <a:ext cx="7133212" cy="1077178"/>
          </a:xfrm>
          <a:prstGeom prst="rect">
            <a:avLst/>
          </a:prstGeom>
          <a:noFill/>
          <a:ln>
            <a:noFill/>
          </a:ln>
        </p:spPr>
        <p:txBody>
          <a:bodyPr spcFirstLastPara="1" wrap="square" lIns="91425" tIns="45700" rIns="91425" bIns="45700" anchor="t" anchorCtr="0">
            <a:spAutoFit/>
          </a:bodyPr>
          <a:lstStyle/>
          <a:p>
            <a:pPr lvl="0" algn="ctr"/>
            <a:r>
              <a:rPr lang="en-IN" sz="3200" dirty="0"/>
              <a:t>Customer Churn Analysis</a:t>
            </a:r>
          </a:p>
          <a:p>
            <a:pPr lvl="0" algn="ctr"/>
            <a:r>
              <a:rPr lang="en-IN" sz="3200" dirty="0"/>
              <a:t>Using Power Bi</a:t>
            </a:r>
          </a:p>
        </p:txBody>
      </p:sp>
      <p:sp>
        <p:nvSpPr>
          <p:cNvPr id="3" name="TextBox 2">
            <a:extLst>
              <a:ext uri="{FF2B5EF4-FFF2-40B4-BE49-F238E27FC236}">
                <a16:creationId xmlns:a16="http://schemas.microsoft.com/office/drawing/2014/main" id="{27EF971C-792E-7458-68FE-8997B843E939}"/>
              </a:ext>
            </a:extLst>
          </p:cNvPr>
          <p:cNvSpPr txBox="1"/>
          <p:nvPr/>
        </p:nvSpPr>
        <p:spPr>
          <a:xfrm>
            <a:off x="7787149" y="4896916"/>
            <a:ext cx="2182761" cy="1200329"/>
          </a:xfrm>
          <a:prstGeom prst="rect">
            <a:avLst/>
          </a:prstGeom>
          <a:noFill/>
        </p:spPr>
        <p:txBody>
          <a:bodyPr wrap="square">
            <a:spAutoFit/>
          </a:bodyPr>
          <a:lstStyle/>
          <a:p>
            <a:r>
              <a:rPr lang="en-US" sz="2400" dirty="0"/>
              <a:t>By:</a:t>
            </a:r>
            <a:br>
              <a:rPr lang="en-US" sz="2400" dirty="0"/>
            </a:br>
            <a:r>
              <a:rPr lang="en-US" sz="2400" dirty="0"/>
              <a:t>Sripada Jain</a:t>
            </a:r>
            <a:br>
              <a:rPr lang="en-US" sz="2400" dirty="0"/>
            </a:br>
            <a:r>
              <a:rPr lang="en-US" sz="24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D5A3D-F422-89A0-62BD-5FA02C9E2162}"/>
              </a:ext>
            </a:extLst>
          </p:cNvPr>
          <p:cNvSpPr>
            <a:spLocks noGrp="1"/>
          </p:cNvSpPr>
          <p:nvPr>
            <p:ph type="ctrTitle"/>
          </p:nvPr>
        </p:nvSpPr>
        <p:spPr>
          <a:xfrm>
            <a:off x="1170039" y="429150"/>
            <a:ext cx="3293806" cy="629265"/>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Agenda</a:t>
            </a:r>
          </a:p>
        </p:txBody>
      </p:sp>
      <p:sp>
        <p:nvSpPr>
          <p:cNvPr id="3" name="Subtitle 2">
            <a:extLst>
              <a:ext uri="{FF2B5EF4-FFF2-40B4-BE49-F238E27FC236}">
                <a16:creationId xmlns:a16="http://schemas.microsoft.com/office/drawing/2014/main" id="{2D8C4E7A-6947-1B86-D530-ED974252F0D0}"/>
              </a:ext>
            </a:extLst>
          </p:cNvPr>
          <p:cNvSpPr>
            <a:spLocks noGrp="1"/>
          </p:cNvSpPr>
          <p:nvPr>
            <p:ph type="subTitle" idx="1"/>
          </p:nvPr>
        </p:nvSpPr>
        <p:spPr>
          <a:xfrm>
            <a:off x="1524000" y="1366684"/>
            <a:ext cx="9144000" cy="3429000"/>
          </a:xfrm>
        </p:spPr>
        <p:txBody>
          <a:bodyPr/>
          <a:lstStyle/>
          <a:p>
            <a:pPr algn="l"/>
            <a:r>
              <a:rPr lang="en-US" dirty="0"/>
              <a:t>1.Business Problem</a:t>
            </a:r>
          </a:p>
          <a:p>
            <a:pPr algn="l"/>
            <a:r>
              <a:rPr lang="en-US" dirty="0"/>
              <a:t>2. Objective</a:t>
            </a:r>
          </a:p>
          <a:p>
            <a:pPr algn="l"/>
            <a:r>
              <a:rPr lang="en-US" dirty="0"/>
              <a:t>3. Dataset Overview</a:t>
            </a:r>
          </a:p>
          <a:p>
            <a:pPr algn="l"/>
            <a:r>
              <a:rPr lang="en-US" dirty="0"/>
              <a:t>4. Analysis &amp; Visualizations</a:t>
            </a:r>
          </a:p>
          <a:p>
            <a:pPr algn="l"/>
            <a:r>
              <a:rPr lang="en-US" dirty="0"/>
              <a:t>5. Key Insights</a:t>
            </a:r>
          </a:p>
          <a:p>
            <a:pPr algn="l"/>
            <a:r>
              <a:rPr lang="en-US" dirty="0"/>
              <a:t>6. Recommendations &amp; Conclusion</a:t>
            </a:r>
          </a:p>
          <a:p>
            <a:endParaRPr lang="en-US" dirty="0"/>
          </a:p>
        </p:txBody>
      </p:sp>
      <p:pic>
        <p:nvPicPr>
          <p:cNvPr id="5" name="Picture 4">
            <a:extLst>
              <a:ext uri="{FF2B5EF4-FFF2-40B4-BE49-F238E27FC236}">
                <a16:creationId xmlns:a16="http://schemas.microsoft.com/office/drawing/2014/main" id="{7BD49028-D3E1-287F-C995-535602E99515}"/>
              </a:ext>
            </a:extLst>
          </p:cNvPr>
          <p:cNvPicPr>
            <a:picLocks noChangeAspect="1"/>
          </p:cNvPicPr>
          <p:nvPr/>
        </p:nvPicPr>
        <p:blipFill>
          <a:blip r:embed="rId2"/>
          <a:stretch>
            <a:fillRect/>
          </a:stretch>
        </p:blipFill>
        <p:spPr>
          <a:xfrm>
            <a:off x="9491461" y="5935213"/>
            <a:ext cx="2530059" cy="670618"/>
          </a:xfrm>
          <a:prstGeom prst="rect">
            <a:avLst/>
          </a:prstGeom>
        </p:spPr>
      </p:pic>
    </p:spTree>
    <p:extLst>
      <p:ext uri="{BB962C8B-B14F-4D97-AF65-F5344CB8AC3E}">
        <p14:creationId xmlns:p14="http://schemas.microsoft.com/office/powerpoint/2010/main" val="3965439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DE2BD-F4F8-0EAD-5D1F-A219278355E8}"/>
              </a:ext>
            </a:extLst>
          </p:cNvPr>
          <p:cNvSpPr>
            <a:spLocks noGrp="1"/>
          </p:cNvSpPr>
          <p:nvPr>
            <p:ph type="ctrTitle"/>
          </p:nvPr>
        </p:nvSpPr>
        <p:spPr>
          <a:xfrm>
            <a:off x="1671483" y="668593"/>
            <a:ext cx="3972233" cy="501446"/>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Business Problem</a:t>
            </a:r>
          </a:p>
        </p:txBody>
      </p:sp>
      <p:sp>
        <p:nvSpPr>
          <p:cNvPr id="3" name="Subtitle 2">
            <a:extLst>
              <a:ext uri="{FF2B5EF4-FFF2-40B4-BE49-F238E27FC236}">
                <a16:creationId xmlns:a16="http://schemas.microsoft.com/office/drawing/2014/main" id="{629A02F6-317D-D818-34C2-6D977D8041D0}"/>
              </a:ext>
            </a:extLst>
          </p:cNvPr>
          <p:cNvSpPr>
            <a:spLocks noGrp="1"/>
          </p:cNvSpPr>
          <p:nvPr>
            <p:ph type="subTitle" idx="1"/>
          </p:nvPr>
        </p:nvSpPr>
        <p:spPr>
          <a:xfrm>
            <a:off x="1524000" y="1887794"/>
            <a:ext cx="9144000" cy="2261420"/>
          </a:xfrm>
        </p:spPr>
        <p:txBody>
          <a:bodyPr/>
          <a:lstStyle/>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Customer churn is a major concern for telecom companies. </a:t>
            </a:r>
          </a:p>
          <a:p>
            <a:pPr marL="457200" indent="-457200" algn="just">
              <a:buFont typeface="+mj-lt"/>
              <a:buAutoNum type="arabicPeriod"/>
            </a:pPr>
            <a:r>
              <a:rPr lang="en-US" dirty="0">
                <a:latin typeface="Times New Roman" panose="02020603050405020304" pitchFamily="18" charset="0"/>
                <a:cs typeface="Times New Roman" panose="02020603050405020304" pitchFamily="18" charset="0"/>
              </a:rPr>
              <a:t>The goal is to identify customers likely to leave and understand what    drives churn.</a:t>
            </a:r>
          </a:p>
          <a:p>
            <a:endParaRPr lang="en-US" dirty="0"/>
          </a:p>
        </p:txBody>
      </p:sp>
      <p:pic>
        <p:nvPicPr>
          <p:cNvPr id="5" name="Picture 4">
            <a:extLst>
              <a:ext uri="{FF2B5EF4-FFF2-40B4-BE49-F238E27FC236}">
                <a16:creationId xmlns:a16="http://schemas.microsoft.com/office/drawing/2014/main" id="{0AEAF862-EFD6-1BA9-E002-FF60A72F7BE6}"/>
              </a:ext>
            </a:extLst>
          </p:cNvPr>
          <p:cNvPicPr>
            <a:picLocks noChangeAspect="1"/>
          </p:cNvPicPr>
          <p:nvPr/>
        </p:nvPicPr>
        <p:blipFill>
          <a:blip r:embed="rId2"/>
          <a:stretch>
            <a:fillRect/>
          </a:stretch>
        </p:blipFill>
        <p:spPr>
          <a:xfrm>
            <a:off x="9570118" y="5931742"/>
            <a:ext cx="2530059" cy="670618"/>
          </a:xfrm>
          <a:prstGeom prst="rect">
            <a:avLst/>
          </a:prstGeom>
        </p:spPr>
      </p:pic>
    </p:spTree>
    <p:extLst>
      <p:ext uri="{BB962C8B-B14F-4D97-AF65-F5344CB8AC3E}">
        <p14:creationId xmlns:p14="http://schemas.microsoft.com/office/powerpoint/2010/main" val="1444428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89C5E-D720-97A0-1F06-6E76BF1B9943}"/>
              </a:ext>
            </a:extLst>
          </p:cNvPr>
          <p:cNvSpPr>
            <a:spLocks noGrp="1"/>
          </p:cNvSpPr>
          <p:nvPr>
            <p:ph type="title"/>
          </p:nvPr>
        </p:nvSpPr>
        <p:spPr>
          <a:xfrm>
            <a:off x="1297858" y="530040"/>
            <a:ext cx="2694038" cy="1009918"/>
          </a:xfrm>
        </p:spPr>
        <p:txBody>
          <a:bodyPr>
            <a:norm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09B9BBC2-139A-AFC7-9D85-0B9BD15C5C7E}"/>
              </a:ext>
            </a:extLst>
          </p:cNvPr>
          <p:cNvSpPr>
            <a:spLocks noGrp="1"/>
          </p:cNvSpPr>
          <p:nvPr>
            <p:ph idx="1"/>
          </p:nvPr>
        </p:nvSpPr>
        <p:spPr/>
        <p:txBody>
          <a:bodyPr/>
          <a:lstStyle/>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To analyze customer data and discover key factors influencing churn, helping the company improve retention strategies.</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The goal of this analysis is to understand the key factors :-</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Influence customer churn.</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 likelihood of customers leaving the company. </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To develop strategies to improve retention.</a:t>
            </a:r>
          </a:p>
          <a:p>
            <a:endParaRPr lang="en-US" dirty="0"/>
          </a:p>
          <a:p>
            <a:pPr marL="0" indent="0">
              <a:buNone/>
            </a:pPr>
            <a:endParaRPr lang="en-US" dirty="0"/>
          </a:p>
        </p:txBody>
      </p:sp>
      <p:pic>
        <p:nvPicPr>
          <p:cNvPr id="5" name="Picture 4">
            <a:extLst>
              <a:ext uri="{FF2B5EF4-FFF2-40B4-BE49-F238E27FC236}">
                <a16:creationId xmlns:a16="http://schemas.microsoft.com/office/drawing/2014/main" id="{84122BA4-0D93-4ECF-5C25-721CF09B7853}"/>
              </a:ext>
            </a:extLst>
          </p:cNvPr>
          <p:cNvPicPr>
            <a:picLocks noChangeAspect="1"/>
          </p:cNvPicPr>
          <p:nvPr/>
        </p:nvPicPr>
        <p:blipFill>
          <a:blip r:embed="rId2"/>
          <a:stretch>
            <a:fillRect/>
          </a:stretch>
        </p:blipFill>
        <p:spPr>
          <a:xfrm>
            <a:off x="9461964" y="5976591"/>
            <a:ext cx="2530059" cy="670618"/>
          </a:xfrm>
          <a:prstGeom prst="rect">
            <a:avLst/>
          </a:prstGeom>
        </p:spPr>
      </p:pic>
    </p:spTree>
    <p:extLst>
      <p:ext uri="{BB962C8B-B14F-4D97-AF65-F5344CB8AC3E}">
        <p14:creationId xmlns:p14="http://schemas.microsoft.com/office/powerpoint/2010/main" val="2485794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BE9B4-A12C-EDA6-7DCA-8F4C9C0D73C2}"/>
              </a:ext>
            </a:extLst>
          </p:cNvPr>
          <p:cNvSpPr>
            <a:spLocks noGrp="1"/>
          </p:cNvSpPr>
          <p:nvPr>
            <p:ph type="title"/>
          </p:nvPr>
        </p:nvSpPr>
        <p:spPr>
          <a:xfrm>
            <a:off x="838200" y="317243"/>
            <a:ext cx="10515600" cy="901957"/>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Dataset Overview</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A7A900-5FE3-8FCD-6A5F-1A5BCBCF843A}"/>
              </a:ext>
            </a:extLst>
          </p:cNvPr>
          <p:cNvSpPr>
            <a:spLocks noGrp="1"/>
          </p:cNvSpPr>
          <p:nvPr>
            <p:ph idx="1"/>
          </p:nvPr>
        </p:nvSpPr>
        <p:spPr>
          <a:xfrm>
            <a:off x="707923" y="1091381"/>
            <a:ext cx="10645877" cy="5085582"/>
          </a:xfrm>
        </p:spPr>
        <p:txBody>
          <a:bodyPr>
            <a:normAutofit/>
          </a:bodyPr>
          <a:lstStyle/>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Total Records: 7,043</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Total Columns: 21</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Target Variable: Churn (Yes/No)</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400" b="1" dirty="0">
                <a:solidFill>
                  <a:srgbClr val="FF0000"/>
                </a:solidFill>
                <a:latin typeface="Times New Roman" panose="02020603050405020304" pitchFamily="18" charset="0"/>
                <a:cs typeface="Times New Roman" panose="02020603050405020304" pitchFamily="18" charset="0"/>
              </a:rPr>
              <a:t>Feature Categories</a:t>
            </a:r>
            <a:endParaRPr lang="en-US" sz="2400" dirty="0">
              <a:solidFill>
                <a:srgbClr val="FF0000"/>
              </a:solidFill>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 Customer Info: gender, Senior Citizen, Partner, Dependents</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 Account Info: tenure, Contract, Payment Method, Paperless Billing</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 Services: Internet Service, Tech Support, Streaming TV, etc.</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 Charges: Monthly Charges, Total Charges</a:t>
            </a:r>
          </a:p>
        </p:txBody>
      </p:sp>
      <p:pic>
        <p:nvPicPr>
          <p:cNvPr id="5" name="Picture 4">
            <a:extLst>
              <a:ext uri="{FF2B5EF4-FFF2-40B4-BE49-F238E27FC236}">
                <a16:creationId xmlns:a16="http://schemas.microsoft.com/office/drawing/2014/main" id="{5E95B1EF-F54A-FE43-E74C-AC434F076EB2}"/>
              </a:ext>
            </a:extLst>
          </p:cNvPr>
          <p:cNvPicPr>
            <a:picLocks noChangeAspect="1"/>
          </p:cNvPicPr>
          <p:nvPr/>
        </p:nvPicPr>
        <p:blipFill>
          <a:blip r:embed="rId2"/>
          <a:stretch>
            <a:fillRect/>
          </a:stretch>
        </p:blipFill>
        <p:spPr>
          <a:xfrm>
            <a:off x="9501293" y="5976591"/>
            <a:ext cx="2530059" cy="670618"/>
          </a:xfrm>
          <a:prstGeom prst="rect">
            <a:avLst/>
          </a:prstGeom>
        </p:spPr>
      </p:pic>
    </p:spTree>
    <p:extLst>
      <p:ext uri="{BB962C8B-B14F-4D97-AF65-F5344CB8AC3E}">
        <p14:creationId xmlns:p14="http://schemas.microsoft.com/office/powerpoint/2010/main" val="4259394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D5AC-B146-73C1-A4A4-BA8DE2B389E3}"/>
              </a:ext>
            </a:extLst>
          </p:cNvPr>
          <p:cNvSpPr>
            <a:spLocks noGrp="1"/>
          </p:cNvSpPr>
          <p:nvPr>
            <p:ph type="title"/>
          </p:nvPr>
        </p:nvSpPr>
        <p:spPr>
          <a:xfrm>
            <a:off x="1231491" y="648929"/>
            <a:ext cx="2435942" cy="875071"/>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Data Cleaning</a:t>
            </a:r>
            <a:endParaRPr lang="en-US" sz="2800" b="1" dirty="0">
              <a:solidFill>
                <a:srgbClr val="FF0000"/>
              </a:solidFill>
            </a:endParaRPr>
          </a:p>
        </p:txBody>
      </p:sp>
      <p:sp>
        <p:nvSpPr>
          <p:cNvPr id="3" name="Content Placeholder 2">
            <a:extLst>
              <a:ext uri="{FF2B5EF4-FFF2-40B4-BE49-F238E27FC236}">
                <a16:creationId xmlns:a16="http://schemas.microsoft.com/office/drawing/2014/main" id="{C0BF3385-C41D-E73C-54EF-0872AAA1BF59}"/>
              </a:ext>
            </a:extLst>
          </p:cNvPr>
          <p:cNvSpPr>
            <a:spLocks noGrp="1"/>
          </p:cNvSpPr>
          <p:nvPr>
            <p:ph idx="1"/>
          </p:nvPr>
        </p:nvSpPr>
        <p:spPr>
          <a:xfrm>
            <a:off x="838200" y="1376516"/>
            <a:ext cx="10515600" cy="3018503"/>
          </a:xfrm>
        </p:spPr>
        <p:txBody>
          <a:bodyPr/>
          <a:lstStyle/>
          <a:p>
            <a:pPr marL="0" indent="0">
              <a:buNone/>
            </a:pPr>
            <a:endParaRPr lang="en-US" dirty="0"/>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Checked for null or missing values</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Converted Total Charges to numeric</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Encoded categorical variables</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Standardized continuous variables</a:t>
            </a:r>
          </a:p>
          <a:p>
            <a:endParaRPr lang="en-US" dirty="0"/>
          </a:p>
        </p:txBody>
      </p:sp>
      <p:pic>
        <p:nvPicPr>
          <p:cNvPr id="5" name="Picture 4">
            <a:extLst>
              <a:ext uri="{FF2B5EF4-FFF2-40B4-BE49-F238E27FC236}">
                <a16:creationId xmlns:a16="http://schemas.microsoft.com/office/drawing/2014/main" id="{3E745D6A-2061-1538-93CD-04C02F6B85D1}"/>
              </a:ext>
            </a:extLst>
          </p:cNvPr>
          <p:cNvPicPr>
            <a:picLocks noChangeAspect="1"/>
          </p:cNvPicPr>
          <p:nvPr/>
        </p:nvPicPr>
        <p:blipFill>
          <a:blip r:embed="rId2"/>
          <a:stretch>
            <a:fillRect/>
          </a:stretch>
        </p:blipFill>
        <p:spPr>
          <a:xfrm>
            <a:off x="9570118" y="5974542"/>
            <a:ext cx="2530059" cy="670618"/>
          </a:xfrm>
          <a:prstGeom prst="rect">
            <a:avLst/>
          </a:prstGeom>
        </p:spPr>
      </p:pic>
    </p:spTree>
    <p:extLst>
      <p:ext uri="{BB962C8B-B14F-4D97-AF65-F5344CB8AC3E}">
        <p14:creationId xmlns:p14="http://schemas.microsoft.com/office/powerpoint/2010/main" val="1028952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AEB19-739B-673F-1DE3-8F2EE87A0EEA}"/>
              </a:ext>
            </a:extLst>
          </p:cNvPr>
          <p:cNvSpPr>
            <a:spLocks noGrp="1"/>
          </p:cNvSpPr>
          <p:nvPr>
            <p:ph type="title"/>
          </p:nvPr>
        </p:nvSpPr>
        <p:spPr>
          <a:xfrm>
            <a:off x="838200" y="210791"/>
            <a:ext cx="10515600" cy="1479897"/>
          </a:xfrm>
        </p:spPr>
        <p:txBody>
          <a:bodyPr>
            <a:normAutofit fontScale="90000"/>
          </a:bodyPr>
          <a:lstStyle/>
          <a:p>
            <a:r>
              <a:rPr lang="en-US" sz="3200" b="1" dirty="0">
                <a:solidFill>
                  <a:srgbClr val="FF0000"/>
                </a:solidFill>
                <a:latin typeface="Times New Roman" panose="02020603050405020304" pitchFamily="18" charset="0"/>
                <a:cs typeface="Times New Roman" panose="02020603050405020304" pitchFamily="18" charset="0"/>
              </a:rPr>
              <a:t>Analysis &amp; Visualizations</a:t>
            </a:r>
            <a:br>
              <a:rPr lang="en-US" sz="3200" b="1" dirty="0">
                <a:latin typeface="Times New Roman" panose="02020603050405020304" pitchFamily="18" charset="0"/>
                <a:cs typeface="Times New Roman" panose="02020603050405020304" pitchFamily="18" charset="0"/>
              </a:rPr>
            </a:br>
            <a:br>
              <a:rPr lang="en-US" b="1" dirty="0"/>
            </a:br>
            <a:r>
              <a:rPr lang="en-US" sz="2800" b="1" dirty="0">
                <a:solidFill>
                  <a:srgbClr val="FF0000"/>
                </a:solidFill>
                <a:latin typeface="+mn-lt"/>
              </a:rPr>
              <a:t>Dashboard's Structure</a:t>
            </a:r>
            <a:endParaRPr lang="en-US" sz="2800" dirty="0">
              <a:solidFill>
                <a:srgbClr val="FF0000"/>
              </a:solidFill>
              <a:latin typeface="+mn-lt"/>
            </a:endParaRPr>
          </a:p>
        </p:txBody>
      </p:sp>
      <p:sp>
        <p:nvSpPr>
          <p:cNvPr id="3" name="Content Placeholder 2">
            <a:extLst>
              <a:ext uri="{FF2B5EF4-FFF2-40B4-BE49-F238E27FC236}">
                <a16:creationId xmlns:a16="http://schemas.microsoft.com/office/drawing/2014/main" id="{A0D95A44-B76C-3932-88AF-91A5396C3358}"/>
              </a:ext>
            </a:extLst>
          </p:cNvPr>
          <p:cNvSpPr>
            <a:spLocks noGrp="1"/>
          </p:cNvSpPr>
          <p:nvPr>
            <p:ph idx="1"/>
          </p:nvPr>
        </p:nvSpPr>
        <p:spPr/>
        <p:txBody>
          <a:bodyPr/>
          <a:lstStyle/>
          <a:p>
            <a:pPr marL="514350" indent="-514350">
              <a:buFont typeface="+mj-lt"/>
              <a:buAutoNum type="arabicPeriod"/>
            </a:pPr>
            <a:r>
              <a:rPr lang="en-US" sz="2400" b="1" dirty="0">
                <a:latin typeface="Times New Roman" panose="02020603050405020304" pitchFamily="18" charset="0"/>
                <a:cs typeface="Times New Roman" panose="02020603050405020304" pitchFamily="18" charset="0"/>
              </a:rPr>
              <a:t>Customer Demographics Analysis :</a:t>
            </a:r>
            <a:r>
              <a:rPr lang="en-US" sz="2400" dirty="0">
                <a:latin typeface="Times New Roman" panose="02020603050405020304" pitchFamily="18" charset="0"/>
                <a:cs typeface="Times New Roman" panose="02020603050405020304" pitchFamily="18" charset="0"/>
              </a:rPr>
              <a:t>Understand overall churn summary &amp; KPIs Study of churn across gender, age, and seniority.    </a:t>
            </a:r>
          </a:p>
          <a:p>
            <a:pPr marL="514350" indent="-514350">
              <a:buFont typeface="+mj-lt"/>
              <a:buAutoNum type="arabicPeriod"/>
            </a:pPr>
            <a:r>
              <a:rPr lang="en-US" sz="2400" b="1" dirty="0">
                <a:latin typeface="Times New Roman" panose="02020603050405020304" pitchFamily="18" charset="0"/>
                <a:cs typeface="Times New Roman" panose="02020603050405020304" pitchFamily="18" charset="0"/>
              </a:rPr>
              <a:t>Service Subscription Analysis: </a:t>
            </a:r>
            <a:r>
              <a:rPr lang="en-US" sz="2400" dirty="0">
                <a:latin typeface="Times New Roman" panose="02020603050405020304" pitchFamily="18" charset="0"/>
                <a:cs typeface="Times New Roman" panose="02020603050405020304" pitchFamily="18" charset="0"/>
              </a:rPr>
              <a:t>Identify churn by services and add-ons.</a:t>
            </a:r>
          </a:p>
          <a:p>
            <a:pPr marL="514350" indent="-514350">
              <a:buFont typeface="+mj-lt"/>
              <a:buAutoNum type="arabicPeriod"/>
            </a:pPr>
            <a:r>
              <a:rPr lang="en-US" sz="2400" b="1" dirty="0">
                <a:latin typeface="Times New Roman" panose="02020603050405020304" pitchFamily="18" charset="0"/>
                <a:cs typeface="Times New Roman" panose="02020603050405020304" pitchFamily="18" charset="0"/>
              </a:rPr>
              <a:t>Contract &amp; Billing Insights: </a:t>
            </a:r>
            <a:r>
              <a:rPr lang="en-US" sz="2400" dirty="0">
                <a:latin typeface="Times New Roman" panose="02020603050405020304" pitchFamily="18" charset="0"/>
                <a:cs typeface="Times New Roman" panose="02020603050405020304" pitchFamily="18" charset="0"/>
              </a:rPr>
              <a:t>Analyze churn based on payment and contract type.</a:t>
            </a:r>
          </a:p>
          <a:p>
            <a:pPr marL="514350" indent="-514350">
              <a:buFont typeface="+mj-lt"/>
              <a:buAutoNum type="arabicPeriod"/>
            </a:pPr>
            <a:r>
              <a:rPr lang="en-US" sz="2400" b="1" dirty="0">
                <a:latin typeface="Times New Roman" panose="02020603050405020304" pitchFamily="18" charset="0"/>
                <a:cs typeface="Times New Roman" panose="02020603050405020304" pitchFamily="18" charset="0"/>
              </a:rPr>
              <a:t>Churn Prediction &amp; Key Drivers: </a:t>
            </a:r>
            <a:r>
              <a:rPr lang="en-US" sz="2400" dirty="0">
                <a:latin typeface="Times New Roman" panose="02020603050405020304" pitchFamily="18" charset="0"/>
                <a:cs typeface="Times New Roman" panose="02020603050405020304" pitchFamily="18" charset="0"/>
              </a:rPr>
              <a:t>Find high-risk churn segments visually.</a:t>
            </a:r>
          </a:p>
          <a:p>
            <a:endParaRPr lang="en-US" dirty="0"/>
          </a:p>
        </p:txBody>
      </p:sp>
      <p:pic>
        <p:nvPicPr>
          <p:cNvPr id="5" name="Picture 4">
            <a:extLst>
              <a:ext uri="{FF2B5EF4-FFF2-40B4-BE49-F238E27FC236}">
                <a16:creationId xmlns:a16="http://schemas.microsoft.com/office/drawing/2014/main" id="{B1F33A69-1063-C596-E0BD-0AAABDAFEEC6}"/>
              </a:ext>
            </a:extLst>
          </p:cNvPr>
          <p:cNvPicPr>
            <a:picLocks noChangeAspect="1"/>
          </p:cNvPicPr>
          <p:nvPr/>
        </p:nvPicPr>
        <p:blipFill>
          <a:blip r:embed="rId2"/>
          <a:stretch>
            <a:fillRect/>
          </a:stretch>
        </p:blipFill>
        <p:spPr>
          <a:xfrm>
            <a:off x="9412803" y="5976590"/>
            <a:ext cx="2530059" cy="670618"/>
          </a:xfrm>
          <a:prstGeom prst="rect">
            <a:avLst/>
          </a:prstGeom>
        </p:spPr>
      </p:pic>
    </p:spTree>
    <p:extLst>
      <p:ext uri="{BB962C8B-B14F-4D97-AF65-F5344CB8AC3E}">
        <p14:creationId xmlns:p14="http://schemas.microsoft.com/office/powerpoint/2010/main" val="2943208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06600-7744-2943-1743-AC3A65E456B5}"/>
              </a:ext>
            </a:extLst>
          </p:cNvPr>
          <p:cNvSpPr>
            <a:spLocks noGrp="1"/>
          </p:cNvSpPr>
          <p:nvPr>
            <p:ph type="title"/>
          </p:nvPr>
        </p:nvSpPr>
        <p:spPr>
          <a:xfrm>
            <a:off x="435077" y="157316"/>
            <a:ext cx="7509387" cy="523722"/>
          </a:xfrm>
        </p:spPr>
        <p:txBody>
          <a:bodyPr>
            <a:normAutofit fontScale="90000"/>
          </a:bodyPr>
          <a:lstStyle/>
          <a:p>
            <a:r>
              <a:rPr lang="en-US" b="1" dirty="0">
                <a:solidFill>
                  <a:srgbClr val="FF0000"/>
                </a:solidFill>
              </a:rPr>
              <a:t>Customer Demographics Analysis</a:t>
            </a:r>
            <a:endParaRPr lang="en-US" dirty="0">
              <a:solidFill>
                <a:srgbClr val="FF0000"/>
              </a:solidFill>
            </a:endParaRPr>
          </a:p>
        </p:txBody>
      </p:sp>
      <p:sp>
        <p:nvSpPr>
          <p:cNvPr id="3" name="Content Placeholder 2">
            <a:extLst>
              <a:ext uri="{FF2B5EF4-FFF2-40B4-BE49-F238E27FC236}">
                <a16:creationId xmlns:a16="http://schemas.microsoft.com/office/drawing/2014/main" id="{07BB9E5E-C496-7340-E019-33A0D1FE39F0}"/>
              </a:ext>
            </a:extLst>
          </p:cNvPr>
          <p:cNvSpPr>
            <a:spLocks noGrp="1"/>
          </p:cNvSpPr>
          <p:nvPr>
            <p:ph idx="1"/>
          </p:nvPr>
        </p:nvSpPr>
        <p:spPr>
          <a:xfrm>
            <a:off x="435077" y="871870"/>
            <a:ext cx="7883013" cy="5986130"/>
          </a:xfrm>
        </p:spPr>
        <p:txBody>
          <a:bodyPr>
            <a:normAutofit/>
          </a:bodyPr>
          <a:lstStyle/>
          <a:p>
            <a:pPr marL="0" indent="0">
              <a:buNone/>
            </a:pPr>
            <a:r>
              <a:rPr lang="en-US" b="1" dirty="0"/>
              <a:t>1.Churn Rate by Tenure</a:t>
            </a:r>
            <a:endParaRPr lang="en-US" dirty="0"/>
          </a:p>
          <a:p>
            <a:pPr algn="just"/>
            <a:r>
              <a:rPr lang="en-US" sz="1800" b="1" dirty="0">
                <a:latin typeface="Times New Roman" panose="02020603050405020304" pitchFamily="18" charset="0"/>
                <a:cs typeface="Times New Roman" panose="02020603050405020304" pitchFamily="18" charset="0"/>
              </a:rPr>
              <a:t>Visualization: </a:t>
            </a:r>
            <a:r>
              <a:rPr lang="en-US" sz="1800" dirty="0">
                <a:latin typeface="Times New Roman" panose="02020603050405020304" pitchFamily="18" charset="0"/>
                <a:cs typeface="Times New Roman" panose="02020603050405020304" pitchFamily="18" charset="0"/>
              </a:rPr>
              <a:t>Line Chart</a:t>
            </a:r>
          </a:p>
          <a:p>
            <a:pPr algn="just"/>
            <a:r>
              <a:rPr lang="en-US" sz="1800" b="1" dirty="0">
                <a:latin typeface="Times New Roman" panose="02020603050405020304" pitchFamily="18" charset="0"/>
                <a:cs typeface="Times New Roman" panose="02020603050405020304" pitchFamily="18" charset="0"/>
              </a:rPr>
              <a:t>Purpose</a:t>
            </a:r>
            <a:r>
              <a:rPr lang="en-US" sz="1800" dirty="0">
                <a:latin typeface="Times New Roman" panose="02020603050405020304" pitchFamily="18" charset="0"/>
                <a:cs typeface="Times New Roman" panose="02020603050405020304" pitchFamily="18" charset="0"/>
              </a:rPr>
              <a:t>: Shows how customer churn rate changes with the duration (tenure) of their relationship with the company.</a:t>
            </a:r>
          </a:p>
          <a:p>
            <a:pPr algn="just"/>
            <a:r>
              <a:rPr lang="en-US" sz="1800" b="1" dirty="0">
                <a:latin typeface="Times New Roman" panose="02020603050405020304" pitchFamily="18" charset="0"/>
                <a:cs typeface="Times New Roman" panose="02020603050405020304" pitchFamily="18" charset="0"/>
              </a:rPr>
              <a:t>Insight</a:t>
            </a:r>
            <a:r>
              <a:rPr lang="en-US" sz="1800" dirty="0">
                <a:latin typeface="Times New Roman" panose="02020603050405020304" pitchFamily="18" charset="0"/>
                <a:cs typeface="Times New Roman" panose="02020603050405020304" pitchFamily="18" charset="0"/>
              </a:rPr>
              <a:t>: Customers who stay beyond 12 months are more stable and less likely to churn</a:t>
            </a:r>
          </a:p>
          <a:p>
            <a:pPr algn="just"/>
            <a:r>
              <a:rPr lang="en-US" sz="1800" b="1" dirty="0">
                <a:latin typeface="Times New Roman" panose="02020603050405020304" pitchFamily="18" charset="0"/>
                <a:cs typeface="Times New Roman" panose="02020603050405020304" pitchFamily="18" charset="0"/>
              </a:rPr>
              <a:t>Business Action</a:t>
            </a:r>
            <a:r>
              <a:rPr lang="en-US" sz="1800" dirty="0">
                <a:latin typeface="Times New Roman" panose="02020603050405020304" pitchFamily="18" charset="0"/>
                <a:cs typeface="Times New Roman" panose="02020603050405020304" pitchFamily="18" charset="0"/>
              </a:rPr>
              <a:t>: Implement onboarding and retention offers during the first 6 months of customer engagement. Offer loyalty rewards for those who cross 1-year tenure</a:t>
            </a:r>
            <a:r>
              <a:rPr lang="en-US" sz="1600" dirty="0">
                <a:latin typeface="Times New Roman" panose="02020603050405020304" pitchFamily="18" charset="0"/>
                <a:cs typeface="Times New Roman" panose="02020603050405020304" pitchFamily="18" charset="0"/>
              </a:rPr>
              <a:t>.</a:t>
            </a:r>
          </a:p>
          <a:p>
            <a:pPr marL="0" indent="0">
              <a:buNone/>
            </a:pPr>
            <a:r>
              <a:rPr lang="en-US" b="1" dirty="0"/>
              <a:t>2.Count of Churn by Gender </a:t>
            </a:r>
          </a:p>
          <a:p>
            <a:r>
              <a:rPr lang="en-US" sz="1800" dirty="0">
                <a:latin typeface="Times New Roman" panose="02020603050405020304" pitchFamily="18" charset="0"/>
                <a:cs typeface="Times New Roman" panose="02020603050405020304" pitchFamily="18" charset="0"/>
              </a:rPr>
              <a:t>Visualization: Donut Chart</a:t>
            </a:r>
          </a:p>
          <a:p>
            <a:r>
              <a:rPr lang="en-US" sz="1800" dirty="0">
                <a:latin typeface="Times New Roman" panose="02020603050405020304" pitchFamily="18" charset="0"/>
                <a:cs typeface="Times New Roman" panose="02020603050405020304" pitchFamily="18" charset="0"/>
              </a:rPr>
              <a:t>Male: 3.56K (50.48%)</a:t>
            </a:r>
          </a:p>
          <a:p>
            <a:r>
              <a:rPr lang="en-US" sz="1800" dirty="0">
                <a:latin typeface="Times New Roman" panose="02020603050405020304" pitchFamily="18" charset="0"/>
                <a:cs typeface="Times New Roman" panose="02020603050405020304" pitchFamily="18" charset="0"/>
              </a:rPr>
              <a:t>Female: 3.49K (49.52%)</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Gender distribution is almost equal — churn isn’t influenced much by gender.</a:t>
            </a:r>
          </a:p>
          <a:p>
            <a:endParaRPr lang="en-US" dirty="0"/>
          </a:p>
        </p:txBody>
      </p:sp>
      <p:pic>
        <p:nvPicPr>
          <p:cNvPr id="4" name="Picture 3">
            <a:extLst>
              <a:ext uri="{FF2B5EF4-FFF2-40B4-BE49-F238E27FC236}">
                <a16:creationId xmlns:a16="http://schemas.microsoft.com/office/drawing/2014/main" id="{D9DF4884-7CAA-9FC4-33B6-A328A20C137A}"/>
              </a:ext>
            </a:extLst>
          </p:cNvPr>
          <p:cNvPicPr>
            <a:picLocks noChangeAspect="1"/>
          </p:cNvPicPr>
          <p:nvPr/>
        </p:nvPicPr>
        <p:blipFill>
          <a:blip r:embed="rId2"/>
          <a:stretch>
            <a:fillRect/>
          </a:stretch>
        </p:blipFill>
        <p:spPr>
          <a:xfrm>
            <a:off x="8396749" y="681038"/>
            <a:ext cx="3500283" cy="2772236"/>
          </a:xfrm>
          <a:prstGeom prst="rect">
            <a:avLst/>
          </a:prstGeom>
        </p:spPr>
      </p:pic>
      <p:pic>
        <p:nvPicPr>
          <p:cNvPr id="8" name="Picture 7">
            <a:extLst>
              <a:ext uri="{FF2B5EF4-FFF2-40B4-BE49-F238E27FC236}">
                <a16:creationId xmlns:a16="http://schemas.microsoft.com/office/drawing/2014/main" id="{6D41B1DA-9AA3-C7B4-CAEB-3595D76F185C}"/>
              </a:ext>
            </a:extLst>
          </p:cNvPr>
          <p:cNvPicPr>
            <a:picLocks noChangeAspect="1"/>
          </p:cNvPicPr>
          <p:nvPr/>
        </p:nvPicPr>
        <p:blipFill>
          <a:blip r:embed="rId3"/>
          <a:stretch>
            <a:fillRect/>
          </a:stretch>
        </p:blipFill>
        <p:spPr>
          <a:xfrm>
            <a:off x="8396749" y="3559277"/>
            <a:ext cx="3637935" cy="2371878"/>
          </a:xfrm>
          <a:prstGeom prst="rect">
            <a:avLst/>
          </a:prstGeom>
        </p:spPr>
      </p:pic>
      <p:pic>
        <p:nvPicPr>
          <p:cNvPr id="6" name="Picture 5">
            <a:extLst>
              <a:ext uri="{FF2B5EF4-FFF2-40B4-BE49-F238E27FC236}">
                <a16:creationId xmlns:a16="http://schemas.microsoft.com/office/drawing/2014/main" id="{59D7A57D-8697-3191-F780-69D10D8E0304}"/>
              </a:ext>
            </a:extLst>
          </p:cNvPr>
          <p:cNvPicPr>
            <a:picLocks noChangeAspect="1"/>
          </p:cNvPicPr>
          <p:nvPr/>
        </p:nvPicPr>
        <p:blipFill>
          <a:blip r:embed="rId4"/>
          <a:stretch>
            <a:fillRect/>
          </a:stretch>
        </p:blipFill>
        <p:spPr>
          <a:xfrm>
            <a:off x="9366973" y="6037158"/>
            <a:ext cx="2530059" cy="670618"/>
          </a:xfrm>
          <a:prstGeom prst="rect">
            <a:avLst/>
          </a:prstGeom>
        </p:spPr>
      </p:pic>
    </p:spTree>
    <p:extLst>
      <p:ext uri="{BB962C8B-B14F-4D97-AF65-F5344CB8AC3E}">
        <p14:creationId xmlns:p14="http://schemas.microsoft.com/office/powerpoint/2010/main" val="927393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54F18-3B73-E7F1-636A-7D410DC073FB}"/>
              </a:ext>
            </a:extLst>
          </p:cNvPr>
          <p:cNvSpPr>
            <a:spLocks noGrp="1"/>
          </p:cNvSpPr>
          <p:nvPr>
            <p:ph idx="1"/>
          </p:nvPr>
        </p:nvSpPr>
        <p:spPr>
          <a:xfrm>
            <a:off x="157316" y="127818"/>
            <a:ext cx="7847449" cy="6646607"/>
          </a:xfrm>
        </p:spPr>
        <p:txBody>
          <a:bodyPr>
            <a:normAutofit fontScale="92500"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3.sum of tenure , </a:t>
            </a:r>
            <a:r>
              <a:rPr lang="en-US" sz="2600" b="1" dirty="0" err="1">
                <a:latin typeface="Times New Roman" panose="02020603050405020304" pitchFamily="18" charset="0"/>
                <a:cs typeface="Times New Roman" panose="02020603050405020304" pitchFamily="18" charset="0"/>
              </a:rPr>
              <a:t>montly</a:t>
            </a:r>
            <a:r>
              <a:rPr lang="en-US" sz="2600" b="1" dirty="0">
                <a:latin typeface="Times New Roman" panose="02020603050405020304" pitchFamily="18" charset="0"/>
                <a:cs typeface="Times New Roman" panose="02020603050405020304" pitchFamily="18" charset="0"/>
              </a:rPr>
              <a:t> charges by Internet Service and      Gender</a:t>
            </a:r>
          </a:p>
          <a:p>
            <a:r>
              <a:rPr lang="en-US" sz="1900" b="1" dirty="0">
                <a:latin typeface="Times New Roman" panose="02020603050405020304" pitchFamily="18" charset="0"/>
                <a:cs typeface="Times New Roman" panose="02020603050405020304" pitchFamily="18" charset="0"/>
              </a:rPr>
              <a:t>Visualization: </a:t>
            </a:r>
            <a:r>
              <a:rPr lang="en-US" sz="1900" dirty="0">
                <a:latin typeface="Times New Roman" panose="02020603050405020304" pitchFamily="18" charset="0"/>
                <a:cs typeface="Times New Roman" panose="02020603050405020304" pitchFamily="18" charset="0"/>
              </a:rPr>
              <a:t>Clustered Bar or Bubble Chart</a:t>
            </a:r>
          </a:p>
          <a:p>
            <a:r>
              <a:rPr lang="en-US" sz="1900" b="1" dirty="0">
                <a:latin typeface="Times New Roman" panose="02020603050405020304" pitchFamily="18" charset="0"/>
                <a:cs typeface="Times New Roman" panose="02020603050405020304" pitchFamily="18" charset="0"/>
              </a:rPr>
              <a:t>Purpose:</a:t>
            </a:r>
            <a:r>
              <a:rPr lang="en-US" sz="1900" dirty="0">
                <a:latin typeface="Times New Roman" panose="02020603050405020304" pitchFamily="18" charset="0"/>
                <a:cs typeface="Times New Roman" panose="02020603050405020304" pitchFamily="18" charset="0"/>
              </a:rPr>
              <a:t> Shows which internet service category contributes most to churn.</a:t>
            </a:r>
          </a:p>
          <a:p>
            <a:r>
              <a:rPr lang="en-US" sz="1900" b="1" dirty="0">
                <a:latin typeface="Times New Roman" panose="02020603050405020304" pitchFamily="18" charset="0"/>
                <a:cs typeface="Times New Roman" panose="02020603050405020304" pitchFamily="18" charset="0"/>
              </a:rPr>
              <a:t>Insight : </a:t>
            </a:r>
            <a:r>
              <a:rPr lang="en-US" sz="1900" dirty="0">
                <a:latin typeface="Times New Roman" panose="02020603050405020304" pitchFamily="18" charset="0"/>
                <a:cs typeface="Times New Roman" panose="02020603050405020304" pitchFamily="18" charset="0"/>
              </a:rPr>
              <a:t>Service quality or price dissatisfaction among Fiber optic users is driving churn.</a:t>
            </a:r>
          </a:p>
          <a:p>
            <a:r>
              <a:rPr lang="en-US" sz="1900" b="1" dirty="0">
                <a:latin typeface="Times New Roman" panose="02020603050405020304" pitchFamily="18" charset="0"/>
                <a:cs typeface="Times New Roman" panose="02020603050405020304" pitchFamily="18" charset="0"/>
              </a:rPr>
              <a:t>Business Action:</a:t>
            </a:r>
          </a:p>
          <a:p>
            <a:r>
              <a:rPr lang="en-US" sz="1900" dirty="0">
                <a:latin typeface="Times New Roman" panose="02020603050405020304" pitchFamily="18" charset="0"/>
                <a:cs typeface="Times New Roman" panose="02020603050405020304" pitchFamily="18" charset="0"/>
              </a:rPr>
              <a:t>Investigate service complaints or pricing dissatisfaction among Fiber optic customers.</a:t>
            </a:r>
          </a:p>
          <a:p>
            <a:r>
              <a:rPr lang="en-US" sz="1900" dirty="0">
                <a:latin typeface="Times New Roman" panose="02020603050405020304" pitchFamily="18" charset="0"/>
                <a:cs typeface="Times New Roman" panose="02020603050405020304" pitchFamily="18" charset="0"/>
              </a:rPr>
              <a:t>Introduce value-added services or flexible pricing to retain these high-value customers.</a:t>
            </a:r>
          </a:p>
          <a:p>
            <a:pPr marL="0" indent="0">
              <a:buNone/>
            </a:pPr>
            <a:r>
              <a:rPr lang="en-US" dirty="0"/>
              <a:t> 4.</a:t>
            </a:r>
            <a:r>
              <a:rPr lang="en-US" b="1" dirty="0"/>
              <a:t> </a:t>
            </a:r>
            <a:r>
              <a:rPr lang="en-US" sz="2600" b="1" dirty="0">
                <a:latin typeface="Times New Roman" panose="02020603050405020304" pitchFamily="18" charset="0"/>
                <a:cs typeface="Times New Roman" panose="02020603050405020304" pitchFamily="18" charset="0"/>
              </a:rPr>
              <a:t>Churn by Senior Citizen &amp; Gender</a:t>
            </a:r>
          </a:p>
          <a:p>
            <a:r>
              <a:rPr lang="en-US" sz="1900" b="1" dirty="0">
                <a:latin typeface="Times New Roman" panose="02020603050405020304" pitchFamily="18" charset="0"/>
                <a:cs typeface="Times New Roman" panose="02020603050405020304" pitchFamily="18" charset="0"/>
              </a:rPr>
              <a:t>Visualization:</a:t>
            </a:r>
            <a:r>
              <a:rPr lang="en-US" sz="1900" dirty="0">
                <a:latin typeface="Times New Roman" panose="02020603050405020304" pitchFamily="18" charset="0"/>
                <a:cs typeface="Times New Roman" panose="02020603050405020304" pitchFamily="18" charset="0"/>
              </a:rPr>
              <a:t> Clustered Column + Donut Chart Combo</a:t>
            </a:r>
          </a:p>
          <a:p>
            <a:r>
              <a:rPr lang="en-US" sz="1900" b="1" dirty="0">
                <a:latin typeface="Times New Roman" panose="02020603050405020304" pitchFamily="18" charset="0"/>
                <a:cs typeface="Times New Roman" panose="02020603050405020304" pitchFamily="18" charset="0"/>
              </a:rPr>
              <a:t>Purpose:</a:t>
            </a:r>
            <a:r>
              <a:rPr lang="en-US" sz="1900" dirty="0">
                <a:latin typeface="Times New Roman" panose="02020603050405020304" pitchFamily="18" charset="0"/>
                <a:cs typeface="Times New Roman" panose="02020603050405020304" pitchFamily="18" charset="0"/>
              </a:rPr>
              <a:t> Analyze churn based on age group (</a:t>
            </a:r>
            <a:r>
              <a:rPr lang="en-US" sz="1900" dirty="0" err="1">
                <a:latin typeface="Times New Roman" panose="02020603050405020304" pitchFamily="18" charset="0"/>
                <a:cs typeface="Times New Roman" panose="02020603050405020304" pitchFamily="18" charset="0"/>
              </a:rPr>
              <a:t>SeniorCitizen</a:t>
            </a:r>
            <a:r>
              <a:rPr lang="en-US" sz="1900" dirty="0">
                <a:latin typeface="Times New Roman" panose="02020603050405020304" pitchFamily="18" charset="0"/>
                <a:cs typeface="Times New Roman" panose="02020603050405020304" pitchFamily="18" charset="0"/>
              </a:rPr>
              <a:t>) and gender demographics.</a:t>
            </a:r>
          </a:p>
          <a:p>
            <a:r>
              <a:rPr lang="en-US" sz="1900" b="1" dirty="0">
                <a:latin typeface="Times New Roman" panose="02020603050405020304" pitchFamily="18" charset="0"/>
                <a:cs typeface="Times New Roman" panose="02020603050405020304" pitchFamily="18" charset="0"/>
              </a:rPr>
              <a:t>Insight: </a:t>
            </a:r>
            <a:r>
              <a:rPr lang="en-US" sz="1900" dirty="0">
                <a:latin typeface="Times New Roman" panose="02020603050405020304" pitchFamily="18" charset="0"/>
                <a:cs typeface="Times New Roman" panose="02020603050405020304" pitchFamily="18" charset="0"/>
              </a:rPr>
              <a:t>Senior citizens may face difficulties with digital services or may prefer prepaid/short contracts.</a:t>
            </a:r>
          </a:p>
          <a:p>
            <a:r>
              <a:rPr lang="en-US" sz="1900" b="1" dirty="0">
                <a:latin typeface="Times New Roman" panose="02020603050405020304" pitchFamily="18" charset="0"/>
                <a:cs typeface="Times New Roman" panose="02020603050405020304" pitchFamily="18" charset="0"/>
              </a:rPr>
              <a:t> Business Action</a:t>
            </a:r>
          </a:p>
          <a:p>
            <a:r>
              <a:rPr lang="en-US" sz="1900" dirty="0">
                <a:latin typeface="Times New Roman" panose="02020603050405020304" pitchFamily="18" charset="0"/>
                <a:cs typeface="Times New Roman" panose="02020603050405020304" pitchFamily="18" charset="0"/>
              </a:rPr>
              <a:t>Provide personalized support and simpler billing plans for senior customers.</a:t>
            </a:r>
          </a:p>
          <a:p>
            <a:r>
              <a:rPr lang="en-US" sz="1900" dirty="0">
                <a:latin typeface="Times New Roman" panose="02020603050405020304" pitchFamily="18" charset="0"/>
                <a:cs typeface="Times New Roman" panose="02020603050405020304" pitchFamily="18" charset="0"/>
              </a:rPr>
              <a:t>Gender-focused campaigns are not necessary; focus on senior customer engagement instead.</a:t>
            </a:r>
          </a:p>
          <a:p>
            <a:endParaRPr lang="en-US" dirty="0"/>
          </a:p>
        </p:txBody>
      </p:sp>
      <p:pic>
        <p:nvPicPr>
          <p:cNvPr id="5" name="Picture 4">
            <a:extLst>
              <a:ext uri="{FF2B5EF4-FFF2-40B4-BE49-F238E27FC236}">
                <a16:creationId xmlns:a16="http://schemas.microsoft.com/office/drawing/2014/main" id="{BB8200C2-7B96-C5CF-A133-A7FB78F60D49}"/>
              </a:ext>
            </a:extLst>
          </p:cNvPr>
          <p:cNvPicPr>
            <a:picLocks noChangeAspect="1"/>
          </p:cNvPicPr>
          <p:nvPr/>
        </p:nvPicPr>
        <p:blipFill>
          <a:blip r:embed="rId2"/>
          <a:stretch>
            <a:fillRect/>
          </a:stretch>
        </p:blipFill>
        <p:spPr>
          <a:xfrm>
            <a:off x="8004765" y="255639"/>
            <a:ext cx="3871295" cy="2703871"/>
          </a:xfrm>
          <a:prstGeom prst="rect">
            <a:avLst/>
          </a:prstGeom>
        </p:spPr>
      </p:pic>
      <p:pic>
        <p:nvPicPr>
          <p:cNvPr id="7" name="Picture 6">
            <a:extLst>
              <a:ext uri="{FF2B5EF4-FFF2-40B4-BE49-F238E27FC236}">
                <a16:creationId xmlns:a16="http://schemas.microsoft.com/office/drawing/2014/main" id="{D42980AC-F314-DA28-03D5-9C4636E63E9A}"/>
              </a:ext>
            </a:extLst>
          </p:cNvPr>
          <p:cNvPicPr>
            <a:picLocks noChangeAspect="1"/>
          </p:cNvPicPr>
          <p:nvPr/>
        </p:nvPicPr>
        <p:blipFill>
          <a:blip r:embed="rId3"/>
          <a:stretch>
            <a:fillRect/>
          </a:stretch>
        </p:blipFill>
        <p:spPr>
          <a:xfrm>
            <a:off x="8096864" y="2959510"/>
            <a:ext cx="3687097" cy="3030793"/>
          </a:xfrm>
          <a:prstGeom prst="rect">
            <a:avLst/>
          </a:prstGeom>
        </p:spPr>
      </p:pic>
      <p:pic>
        <p:nvPicPr>
          <p:cNvPr id="4" name="Picture 3">
            <a:extLst>
              <a:ext uri="{FF2B5EF4-FFF2-40B4-BE49-F238E27FC236}">
                <a16:creationId xmlns:a16="http://schemas.microsoft.com/office/drawing/2014/main" id="{1F31232E-E3C1-80B7-1BF7-DBE5A9652DFB}"/>
              </a:ext>
            </a:extLst>
          </p:cNvPr>
          <p:cNvPicPr>
            <a:picLocks noChangeAspect="1"/>
          </p:cNvPicPr>
          <p:nvPr/>
        </p:nvPicPr>
        <p:blipFill>
          <a:blip r:embed="rId4"/>
          <a:stretch>
            <a:fillRect/>
          </a:stretch>
        </p:blipFill>
        <p:spPr>
          <a:xfrm>
            <a:off x="9346001" y="5931743"/>
            <a:ext cx="2530059" cy="670618"/>
          </a:xfrm>
          <a:prstGeom prst="rect">
            <a:avLst/>
          </a:prstGeom>
        </p:spPr>
      </p:pic>
    </p:spTree>
    <p:extLst>
      <p:ext uri="{BB962C8B-B14F-4D97-AF65-F5344CB8AC3E}">
        <p14:creationId xmlns:p14="http://schemas.microsoft.com/office/powerpoint/2010/main" val="157974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79928-2EDF-9F22-503C-54F5A812BC0B}"/>
              </a:ext>
            </a:extLst>
          </p:cNvPr>
          <p:cNvSpPr>
            <a:spLocks noGrp="1"/>
          </p:cNvSpPr>
          <p:nvPr>
            <p:ph type="title"/>
          </p:nvPr>
        </p:nvSpPr>
        <p:spPr>
          <a:xfrm>
            <a:off x="2054942" y="324465"/>
            <a:ext cx="7934632" cy="481780"/>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Service Subscription Analysis</a:t>
            </a:r>
            <a:br>
              <a:rPr lang="en-US" b="1"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291D1D9-F6CD-7941-5168-B6A6EA9C07FA}"/>
              </a:ext>
            </a:extLst>
          </p:cNvPr>
          <p:cNvSpPr>
            <a:spLocks noGrp="1"/>
          </p:cNvSpPr>
          <p:nvPr>
            <p:ph idx="1"/>
          </p:nvPr>
        </p:nvSpPr>
        <p:spPr>
          <a:xfrm>
            <a:off x="176981" y="648929"/>
            <a:ext cx="9222657" cy="5999205"/>
          </a:xfrm>
        </p:spPr>
        <p:txBody>
          <a:bodyPr>
            <a:normAutofit/>
          </a:bodyPr>
          <a:lstStyle/>
          <a:p>
            <a:pPr marL="0" lvl="0" indent="0" eaLnBrk="0" fontAlgn="base" hangingPunct="0">
              <a:spcBef>
                <a:spcPct val="0"/>
              </a:spcBef>
              <a:spcAft>
                <a:spcPct val="0"/>
              </a:spcAft>
              <a:buNone/>
            </a:pPr>
            <a:r>
              <a:rPr lang="en-US" sz="2400" b="1" dirty="0">
                <a:latin typeface="Times New Roman" panose="02020603050405020304" pitchFamily="18" charset="0"/>
                <a:cs typeface="Times New Roman" panose="02020603050405020304" pitchFamily="18" charset="0"/>
              </a:rPr>
              <a:t>1</a:t>
            </a:r>
            <a:r>
              <a:rPr lang="en-US" sz="18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Churn Rate by Internet Service</a:t>
            </a:r>
          </a:p>
          <a:p>
            <a:pPr lvl="0" algn="just" eaLnBrk="0" fontAlgn="base" hangingPunct="0">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Visualization: </a:t>
            </a:r>
            <a:r>
              <a:rPr lang="en-US" altLang="en-US" sz="1800" dirty="0">
                <a:latin typeface="Times New Roman" panose="02020603050405020304" pitchFamily="18" charset="0"/>
                <a:cs typeface="Times New Roman" panose="02020603050405020304" pitchFamily="18" charset="0"/>
              </a:rPr>
              <a:t>Clustered column chart</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Purpose:</a:t>
            </a:r>
            <a:r>
              <a:rPr lang="en-US" altLang="en-US" sz="1800" dirty="0">
                <a:latin typeface="Times New Roman" panose="02020603050405020304" pitchFamily="18" charset="0"/>
                <a:cs typeface="Times New Roman" panose="02020603050405020304" pitchFamily="18" charset="0"/>
              </a:rPr>
              <a:t> To pinpoint service-related dissatisfaction by assessing the churn risk associated with different internet technologies.</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Insights:</a:t>
            </a: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Customers with Fiber optic internet are churning at a disproportionately high rate of $41.9\%$.</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This rate is more than double that of DSL customers ($19.0\%$), strongly suggesting a major issue with the Fiber optic offering.</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Business Action:</a:t>
            </a:r>
            <a:r>
              <a:rPr lang="en-US" altLang="en-US" sz="1800" dirty="0">
                <a:latin typeface="Times New Roman" panose="02020603050405020304" pitchFamily="18" charset="0"/>
                <a:cs typeface="Times New Roman" panose="02020603050405020304" pitchFamily="18" charset="0"/>
              </a:rPr>
              <a:t> Launch a dedicated task force to investigate the Fiber optic service offering, focusing on network reliability, reported outages, speed inconsistencies, and customer support for this high-risk segment.</a:t>
            </a:r>
          </a:p>
          <a:p>
            <a:pPr marL="0" indent="0">
              <a:buNone/>
            </a:pPr>
            <a:r>
              <a:rPr lang="en-US" sz="2400" b="1" dirty="0">
                <a:latin typeface="Times New Roman" panose="02020603050405020304" pitchFamily="18" charset="0"/>
                <a:cs typeface="Times New Roman" panose="02020603050405020304" pitchFamily="18" charset="0"/>
              </a:rPr>
              <a:t>2.Correlation between the number of subscribed services and the likelihood of churn</a:t>
            </a:r>
          </a:p>
          <a:p>
            <a:pPr marL="0" indent="0">
              <a:buNone/>
            </a:pPr>
            <a:r>
              <a:rPr lang="en-US" sz="1900" b="1" dirty="0">
                <a:latin typeface="Times New Roman" panose="02020603050405020304" pitchFamily="18" charset="0"/>
                <a:cs typeface="Times New Roman" panose="02020603050405020304" pitchFamily="18" charset="0"/>
              </a:rPr>
              <a:t>Purpose:</a:t>
            </a:r>
            <a:r>
              <a:rPr lang="en-US" sz="1900" dirty="0">
                <a:latin typeface="Times New Roman" panose="02020603050405020304" pitchFamily="18" charset="0"/>
                <a:cs typeface="Times New Roman" panose="02020603050405020304" pitchFamily="18" charset="0"/>
              </a:rPr>
              <a:t> To determine the relationship between the level of product bundling/stickiness and the likelihood of a customer leaving the service. </a:t>
            </a:r>
          </a:p>
          <a:p>
            <a:pPr marL="0" indent="0">
              <a:buNone/>
            </a:pPr>
            <a:r>
              <a:rPr lang="en-US" sz="1900" b="1" dirty="0">
                <a:latin typeface="Times New Roman" panose="02020603050405020304" pitchFamily="18" charset="0"/>
                <a:cs typeface="Times New Roman" panose="02020603050405020304" pitchFamily="18" charset="0"/>
              </a:rPr>
              <a:t>Insights:</a:t>
            </a:r>
            <a:r>
              <a:rPr lang="en-US" sz="1900" dirty="0">
                <a:latin typeface="Times New Roman" panose="02020603050405020304" pitchFamily="18" charset="0"/>
                <a:cs typeface="Times New Roman" panose="02020603050405020304" pitchFamily="18" charset="0"/>
              </a:rPr>
              <a:t> customers are paying a premium but not receiving enough offset core service dissatisfaction. </a:t>
            </a:r>
          </a:p>
          <a:p>
            <a:pPr marL="0" indent="0">
              <a:buNone/>
            </a:pPr>
            <a:r>
              <a:rPr lang="en-US" sz="1800" b="1" dirty="0">
                <a:latin typeface="Times New Roman" panose="02020603050405020304" pitchFamily="18" charset="0"/>
                <a:cs typeface="Times New Roman" panose="02020603050405020304" pitchFamily="18" charset="0"/>
              </a:rPr>
              <a:t>Business Action</a:t>
            </a:r>
            <a:r>
              <a:rPr lang="en-US" sz="1800"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Prioritize retention efforts on the 1 and 2 add </a:t>
            </a:r>
            <a:r>
              <a:rPr lang="en-US" sz="2000" dirty="0"/>
              <a:t>Business Action:</a:t>
            </a:r>
            <a:r>
              <a:rPr lang="en-US" sz="1900" dirty="0">
                <a:latin typeface="Times New Roman" panose="02020603050405020304" pitchFamily="18" charset="0"/>
                <a:cs typeface="Times New Roman" panose="02020603050405020304" pitchFamily="18" charset="0"/>
              </a:rPr>
              <a:t>-on segments, as they represent the highest churn risk group. </a:t>
            </a:r>
          </a:p>
        </p:txBody>
      </p:sp>
      <p:pic>
        <p:nvPicPr>
          <p:cNvPr id="4" name="Picture 3">
            <a:extLst>
              <a:ext uri="{FF2B5EF4-FFF2-40B4-BE49-F238E27FC236}">
                <a16:creationId xmlns:a16="http://schemas.microsoft.com/office/drawing/2014/main" id="{C5DF65EA-8C7E-E07B-6001-41E4E3D64962}"/>
              </a:ext>
            </a:extLst>
          </p:cNvPr>
          <p:cNvPicPr>
            <a:picLocks noChangeAspect="1"/>
          </p:cNvPicPr>
          <p:nvPr/>
        </p:nvPicPr>
        <p:blipFill>
          <a:blip r:embed="rId2"/>
          <a:stretch>
            <a:fillRect/>
          </a:stretch>
        </p:blipFill>
        <p:spPr>
          <a:xfrm>
            <a:off x="9610940" y="1592826"/>
            <a:ext cx="2581060" cy="2990704"/>
          </a:xfrm>
          <a:prstGeom prst="rect">
            <a:avLst/>
          </a:prstGeom>
        </p:spPr>
      </p:pic>
      <p:pic>
        <p:nvPicPr>
          <p:cNvPr id="6" name="Picture 5">
            <a:extLst>
              <a:ext uri="{FF2B5EF4-FFF2-40B4-BE49-F238E27FC236}">
                <a16:creationId xmlns:a16="http://schemas.microsoft.com/office/drawing/2014/main" id="{A0EFD0B7-77A1-0087-5DDD-B94E407A3513}"/>
              </a:ext>
            </a:extLst>
          </p:cNvPr>
          <p:cNvPicPr>
            <a:picLocks noChangeAspect="1"/>
          </p:cNvPicPr>
          <p:nvPr/>
        </p:nvPicPr>
        <p:blipFill>
          <a:blip r:embed="rId3"/>
          <a:stretch>
            <a:fillRect/>
          </a:stretch>
        </p:blipFill>
        <p:spPr>
          <a:xfrm>
            <a:off x="9484960" y="5977516"/>
            <a:ext cx="2530059" cy="670618"/>
          </a:xfrm>
          <a:prstGeom prst="rect">
            <a:avLst/>
          </a:prstGeom>
        </p:spPr>
      </p:pic>
    </p:spTree>
    <p:extLst>
      <p:ext uri="{BB962C8B-B14F-4D97-AF65-F5344CB8AC3E}">
        <p14:creationId xmlns:p14="http://schemas.microsoft.com/office/powerpoint/2010/main" val="3922887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F144-93B7-ED71-C6A4-5982CF3DE12F}"/>
              </a:ext>
            </a:extLst>
          </p:cNvPr>
          <p:cNvSpPr>
            <a:spLocks noGrp="1"/>
          </p:cNvSpPr>
          <p:nvPr>
            <p:ph type="title"/>
          </p:nvPr>
        </p:nvSpPr>
        <p:spPr>
          <a:xfrm>
            <a:off x="131711" y="108155"/>
            <a:ext cx="7920908" cy="973393"/>
          </a:xfrm>
        </p:spPr>
        <p:txBody>
          <a:bodyPr>
            <a:normAutofit fontScale="90000"/>
          </a:bodyPr>
          <a:lstStyle/>
          <a:p>
            <a:pPr marL="0" indent="0"/>
            <a:r>
              <a:rPr lang="en-US" sz="2700" dirty="0">
                <a:latin typeface="Times New Roman" panose="02020603050405020304" pitchFamily="18" charset="0"/>
                <a:cs typeface="Times New Roman" panose="02020603050405020304" pitchFamily="18" charset="0"/>
              </a:rPr>
              <a:t>3</a:t>
            </a:r>
            <a:r>
              <a:rPr lang="en-US" sz="2700">
                <a:latin typeface="Times New Roman" panose="02020603050405020304" pitchFamily="18" charset="0"/>
                <a:cs typeface="Times New Roman" panose="02020603050405020304" pitchFamily="18" charset="0"/>
              </a:rPr>
              <a:t>. </a:t>
            </a:r>
            <a:r>
              <a:rPr lang="en-US" sz="2700" b="1" dirty="0">
                <a:latin typeface="Times New Roman" panose="02020603050405020304" pitchFamily="18" charset="0"/>
                <a:cs typeface="Times New Roman" panose="02020603050405020304" pitchFamily="18" charset="0"/>
              </a:rPr>
              <a:t>Add-on services by customers who churned</a:t>
            </a:r>
            <a:br>
              <a:rPr lang="en-US" dirty="0"/>
            </a:br>
            <a:endParaRPr lang="en-US" dirty="0"/>
          </a:p>
        </p:txBody>
      </p:sp>
      <p:sp>
        <p:nvSpPr>
          <p:cNvPr id="3" name="Content Placeholder 2">
            <a:extLst>
              <a:ext uri="{FF2B5EF4-FFF2-40B4-BE49-F238E27FC236}">
                <a16:creationId xmlns:a16="http://schemas.microsoft.com/office/drawing/2014/main" id="{79DFBBCD-1E8B-318B-3810-49FAC18C8FCE}"/>
              </a:ext>
            </a:extLst>
          </p:cNvPr>
          <p:cNvSpPr>
            <a:spLocks noGrp="1"/>
          </p:cNvSpPr>
          <p:nvPr>
            <p:ph idx="1"/>
          </p:nvPr>
        </p:nvSpPr>
        <p:spPr>
          <a:xfrm>
            <a:off x="131711" y="629265"/>
            <a:ext cx="8141110" cy="6120579"/>
          </a:xfrm>
        </p:spPr>
        <p:txBody>
          <a:bodyPr>
            <a:normAutofit fontScale="92500" lnSpcReduction="20000"/>
          </a:bodyPr>
          <a:lstStyle/>
          <a:p>
            <a:pPr marL="0" indent="0">
              <a:buNone/>
            </a:pPr>
            <a:r>
              <a:rPr lang="en-US" sz="2100" dirty="0"/>
              <a:t>1</a:t>
            </a:r>
            <a:r>
              <a:rPr lang="en-US" dirty="0"/>
              <a:t>. </a:t>
            </a:r>
            <a:r>
              <a:rPr lang="en-US" sz="1800" b="1" dirty="0">
                <a:latin typeface="Times New Roman" panose="02020603050405020304" pitchFamily="18" charset="0"/>
                <a:cs typeface="Times New Roman" panose="02020603050405020304" pitchFamily="18" charset="0"/>
              </a:rPr>
              <a:t>Streaming Services (Streaming Movies &amp; Streaming TV)</a:t>
            </a:r>
          </a:p>
          <a:p>
            <a:pPr>
              <a:lnSpc>
                <a:spcPct val="100000"/>
              </a:lnSpc>
            </a:pPr>
            <a:r>
              <a:rPr lang="en-US" sz="1800" b="1" dirty="0">
                <a:latin typeface="Times New Roman" panose="02020603050405020304" pitchFamily="18" charset="0"/>
                <a:cs typeface="Times New Roman" panose="02020603050405020304" pitchFamily="18" charset="0"/>
              </a:rPr>
              <a:t>Visualization : </a:t>
            </a:r>
            <a:r>
              <a:rPr lang="en-US" sz="1800" dirty="0">
                <a:latin typeface="Times New Roman" panose="02020603050405020304" pitchFamily="18" charset="0"/>
                <a:cs typeface="Times New Roman" panose="02020603050405020304" pitchFamily="18" charset="0"/>
              </a:rPr>
              <a:t>Table</a:t>
            </a:r>
          </a:p>
          <a:p>
            <a:pPr>
              <a:lnSpc>
                <a:spcPct val="100000"/>
              </a:lnSpc>
            </a:pPr>
            <a:r>
              <a:rPr lang="en-US" sz="1800" b="1" dirty="0">
                <a:latin typeface="Times New Roman" panose="02020603050405020304" pitchFamily="18" charset="0"/>
                <a:cs typeface="Times New Roman" panose="02020603050405020304" pitchFamily="18" charset="0"/>
              </a:rPr>
              <a:t>Purpose</a:t>
            </a:r>
            <a:r>
              <a:rPr lang="en-US" sz="1800" dirty="0">
                <a:latin typeface="Times New Roman" panose="02020603050405020304" pitchFamily="18" charset="0"/>
                <a:cs typeface="Times New Roman" panose="02020603050405020304" pitchFamily="18" charset="0"/>
              </a:rPr>
              <a:t>: To identify which premium add-on services are failing to retain customers, signaling potential issues with pricing, content value, or service quality associated with those features.</a:t>
            </a:r>
          </a:p>
          <a:p>
            <a:pPr>
              <a:lnSpc>
                <a:spcPct val="100000"/>
              </a:lnSpc>
            </a:pPr>
            <a:r>
              <a:rPr lang="en-US" altLang="en-US" sz="1800" b="1" dirty="0">
                <a:latin typeface="Times New Roman" panose="02020603050405020304" pitchFamily="18" charset="0"/>
                <a:cs typeface="Times New Roman" panose="02020603050405020304" pitchFamily="18" charset="0"/>
              </a:rPr>
              <a:t>Insights</a:t>
            </a:r>
            <a:r>
              <a:rPr lang="en-US" altLang="en-US" sz="1800" dirty="0">
                <a:latin typeface="Times New Roman" panose="02020603050405020304" pitchFamily="18" charset="0"/>
                <a:cs typeface="Times New Roman" panose="02020603050405020304" pitchFamily="18" charset="0"/>
              </a:rPr>
              <a:t>: Streaming Movies ($43.77\%$) and Streaming TV ($43.55\%$) are the most commonly used add-ons by customers who churned. This indicates that a high proportion of customers leaving the company were paying for and using these entertainment services.</a:t>
            </a:r>
          </a:p>
          <a:p>
            <a:pPr>
              <a:lnSpc>
                <a:spcPct val="100000"/>
              </a:lnSpc>
            </a:pPr>
            <a:r>
              <a:rPr lang="en-US" sz="1800" b="1" dirty="0">
                <a:latin typeface="Times New Roman" panose="02020603050405020304" pitchFamily="18" charset="0"/>
                <a:cs typeface="Times New Roman" panose="02020603050405020304" pitchFamily="18" charset="0"/>
              </a:rPr>
              <a:t>Business Action</a:t>
            </a:r>
            <a:r>
              <a:rPr lang="en-US" sz="1800" dirty="0">
                <a:latin typeface="Times New Roman" panose="02020603050405020304" pitchFamily="18" charset="0"/>
                <a:cs typeface="Times New Roman" panose="02020603050405020304" pitchFamily="18" charset="0"/>
              </a:rPr>
              <a:t>: Review the pricing and content strategy for streaming packages. Consider bundling them more creatively with long-term contracts or core services, or ensure the quality (buffering, content library) is competitive, as customers are willing to pay but are still leaving.</a:t>
            </a:r>
          </a:p>
          <a:p>
            <a:endParaRPr 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2100" b="1" dirty="0">
                <a:latin typeface="Times New Roman" panose="02020603050405020304" pitchFamily="18" charset="0"/>
                <a:cs typeface="Times New Roman" panose="02020603050405020304" pitchFamily="18" charset="0"/>
              </a:rPr>
              <a:t>2. Protective/Support Services (Online Security &amp; Tech Support) </a:t>
            </a:r>
          </a:p>
          <a:p>
            <a:pPr marL="0" lvl="0" indent="0" eaLnBrk="0" fontAlgn="base" hangingPunct="0">
              <a:lnSpc>
                <a:spcPct val="100000"/>
              </a:lnSpc>
              <a:spcBef>
                <a:spcPct val="0"/>
              </a:spcBef>
              <a:spcAft>
                <a:spcPct val="0"/>
              </a:spcAft>
              <a:buNone/>
            </a:pPr>
            <a:endParaRPr lang="en-US" altLang="en-US" sz="1050" b="1" dirty="0">
              <a:latin typeface="Google Sans"/>
            </a:endParaRPr>
          </a:p>
          <a:p>
            <a:pPr lvl="0" eaLnBrk="0" fontAlgn="base" hangingPunct="0">
              <a:lnSpc>
                <a:spcPct val="100000"/>
              </a:lnSpc>
              <a:spcBef>
                <a:spcPct val="0"/>
              </a:spcBef>
              <a:spcAft>
                <a:spcPct val="0"/>
              </a:spcAft>
            </a:pPr>
            <a:r>
              <a:rPr lang="en-US" altLang="en-US" sz="1900" b="1" dirty="0">
                <a:latin typeface="Times New Roman" panose="02020603050405020304" pitchFamily="18" charset="0"/>
                <a:cs typeface="Times New Roman" panose="02020603050405020304" pitchFamily="18" charset="0"/>
              </a:rPr>
              <a:t>Purpose</a:t>
            </a:r>
            <a:r>
              <a:rPr lang="en-US" altLang="en-US" sz="1900" dirty="0">
                <a:latin typeface="Times New Roman" panose="02020603050405020304" pitchFamily="18" charset="0"/>
                <a:cs typeface="Times New Roman" panose="02020603050405020304" pitchFamily="18" charset="0"/>
              </a:rPr>
              <a:t>: To assess the retention power of services specifically designed to reduce customer pain points and increase security.</a:t>
            </a:r>
          </a:p>
          <a:p>
            <a:pPr lvl="0" eaLnBrk="0" fontAlgn="base" hangingPunct="0">
              <a:lnSpc>
                <a:spcPct val="100000"/>
              </a:lnSpc>
              <a:spcBef>
                <a:spcPct val="0"/>
              </a:spcBef>
              <a:spcAft>
                <a:spcPct val="0"/>
              </a:spcAft>
            </a:pPr>
            <a:endParaRPr lang="en-US" altLang="en-US" sz="1900" dirty="0">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pPr>
            <a:r>
              <a:rPr lang="en-US" altLang="en-US" sz="1900" b="1" dirty="0">
                <a:latin typeface="Times New Roman" panose="02020603050405020304" pitchFamily="18" charset="0"/>
                <a:cs typeface="Times New Roman" panose="02020603050405020304" pitchFamily="18" charset="0"/>
              </a:rPr>
              <a:t>Insights</a:t>
            </a:r>
            <a:r>
              <a:rPr lang="en-US" altLang="en-US" sz="1900" dirty="0">
                <a:latin typeface="Times New Roman" panose="02020603050405020304" pitchFamily="18" charset="0"/>
                <a:cs typeface="Times New Roman" panose="02020603050405020304" pitchFamily="18" charset="0"/>
              </a:rPr>
              <a:t>: Online Security ($15.78\%$) and Tech Support ($16.59\%$) are the </a:t>
            </a:r>
            <a:r>
              <a:rPr lang="en-US" altLang="en-US" sz="1900" i="1" dirty="0">
                <a:latin typeface="Times New Roman" panose="02020603050405020304" pitchFamily="18" charset="0"/>
                <a:cs typeface="Times New Roman" panose="02020603050405020304" pitchFamily="18" charset="0"/>
              </a:rPr>
              <a:t>least</a:t>
            </a:r>
            <a:r>
              <a:rPr lang="en-US" altLang="en-US" sz="1900" dirty="0">
                <a:latin typeface="Times New Roman" panose="02020603050405020304" pitchFamily="18" charset="0"/>
                <a:cs typeface="Times New Roman" panose="02020603050405020304" pitchFamily="18" charset="0"/>
              </a:rPr>
              <a:t> used add-ons by churned customers. </a:t>
            </a:r>
          </a:p>
          <a:p>
            <a:pPr lvl="0" eaLnBrk="0" fontAlgn="base" hangingPunct="0">
              <a:lnSpc>
                <a:spcPct val="100000"/>
              </a:lnSpc>
              <a:spcBef>
                <a:spcPct val="0"/>
              </a:spcBef>
              <a:spcAft>
                <a:spcPct val="0"/>
              </a:spcAft>
            </a:pPr>
            <a:endParaRPr lang="en-US" altLang="en-US" sz="1900" dirty="0">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pPr>
            <a:r>
              <a:rPr lang="en-US" altLang="en-US" sz="1900" b="1" dirty="0">
                <a:latin typeface="Times New Roman" panose="02020603050405020304" pitchFamily="18" charset="0"/>
                <a:cs typeface="Times New Roman" panose="02020603050405020304" pitchFamily="18" charset="0"/>
              </a:rPr>
              <a:t>Business Action</a:t>
            </a:r>
            <a:r>
              <a:rPr lang="en-US" altLang="en-US" sz="1900" dirty="0">
                <a:latin typeface="Times New Roman" panose="02020603050405020304" pitchFamily="18" charset="0"/>
                <a:cs typeface="Times New Roman" panose="02020603050405020304" pitchFamily="18" charset="0"/>
              </a:rPr>
              <a:t>: Use these findings to fuel an aggressive cross-sell campaign. Position Online Security and Tech Support as essential retention tools that actively prevent customers from leaving. Offer strong incentives to high-risk customers</a:t>
            </a:r>
            <a:r>
              <a:rPr lang="en-US" altLang="en-US" sz="2100" dirty="0">
                <a:latin typeface="Times New Roman" panose="02020603050405020304" pitchFamily="18" charset="0"/>
                <a:cs typeface="Times New Roman" panose="02020603050405020304" pitchFamily="18" charset="0"/>
              </a:rPr>
              <a:t>.</a:t>
            </a:r>
          </a:p>
          <a:p>
            <a:endParaRPr lang="en-US" dirty="0"/>
          </a:p>
        </p:txBody>
      </p:sp>
      <p:pic>
        <p:nvPicPr>
          <p:cNvPr id="4" name="Picture 3">
            <a:extLst>
              <a:ext uri="{FF2B5EF4-FFF2-40B4-BE49-F238E27FC236}">
                <a16:creationId xmlns:a16="http://schemas.microsoft.com/office/drawing/2014/main" id="{2D2D526B-E7AD-3272-9759-1852AD2F08F5}"/>
              </a:ext>
            </a:extLst>
          </p:cNvPr>
          <p:cNvPicPr>
            <a:picLocks noChangeAspect="1"/>
          </p:cNvPicPr>
          <p:nvPr/>
        </p:nvPicPr>
        <p:blipFill>
          <a:blip r:embed="rId2"/>
          <a:stretch>
            <a:fillRect/>
          </a:stretch>
        </p:blipFill>
        <p:spPr>
          <a:xfrm>
            <a:off x="8272821" y="1219201"/>
            <a:ext cx="3683205" cy="3618271"/>
          </a:xfrm>
          <a:prstGeom prst="rect">
            <a:avLst/>
          </a:prstGeom>
        </p:spPr>
      </p:pic>
      <p:pic>
        <p:nvPicPr>
          <p:cNvPr id="6" name="Picture 5">
            <a:extLst>
              <a:ext uri="{FF2B5EF4-FFF2-40B4-BE49-F238E27FC236}">
                <a16:creationId xmlns:a16="http://schemas.microsoft.com/office/drawing/2014/main" id="{DE07B9C8-DD46-50CC-AE56-CACD7F0664E6}"/>
              </a:ext>
            </a:extLst>
          </p:cNvPr>
          <p:cNvPicPr>
            <a:picLocks noChangeAspect="1"/>
          </p:cNvPicPr>
          <p:nvPr/>
        </p:nvPicPr>
        <p:blipFill>
          <a:blip r:embed="rId3"/>
          <a:stretch>
            <a:fillRect/>
          </a:stretch>
        </p:blipFill>
        <p:spPr>
          <a:xfrm>
            <a:off x="9530230" y="5954878"/>
            <a:ext cx="2530059" cy="670618"/>
          </a:xfrm>
          <a:prstGeom prst="rect">
            <a:avLst/>
          </a:prstGeom>
        </p:spPr>
      </p:pic>
    </p:spTree>
    <p:extLst>
      <p:ext uri="{BB962C8B-B14F-4D97-AF65-F5344CB8AC3E}">
        <p14:creationId xmlns:p14="http://schemas.microsoft.com/office/powerpoint/2010/main" val="4126168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B01F0-085E-EA69-624F-F9F19CE958BC}"/>
              </a:ext>
            </a:extLst>
          </p:cNvPr>
          <p:cNvSpPr>
            <a:spLocks noGrp="1"/>
          </p:cNvSpPr>
          <p:nvPr>
            <p:ph type="title"/>
          </p:nvPr>
        </p:nvSpPr>
        <p:spPr>
          <a:xfrm>
            <a:off x="838200" y="68826"/>
            <a:ext cx="10515600" cy="688258"/>
          </a:xfrm>
        </p:spPr>
        <p:txBody>
          <a:bodyPr>
            <a:normAutofit fontScale="90000"/>
          </a:bodyPr>
          <a:lstStyle/>
          <a:p>
            <a:pPr algn="ctr"/>
            <a:r>
              <a:rPr lang="en-US" b="1" dirty="0">
                <a:solidFill>
                  <a:srgbClr val="FF0000"/>
                </a:solidFill>
              </a:rPr>
              <a:t>Contract &amp; Billing Insights</a:t>
            </a:r>
          </a:p>
        </p:txBody>
      </p:sp>
      <p:sp>
        <p:nvSpPr>
          <p:cNvPr id="3" name="Content Placeholder 2">
            <a:extLst>
              <a:ext uri="{FF2B5EF4-FFF2-40B4-BE49-F238E27FC236}">
                <a16:creationId xmlns:a16="http://schemas.microsoft.com/office/drawing/2014/main" id="{EF573AE8-7AC9-BD36-E5DC-43E9F2CD535F}"/>
              </a:ext>
            </a:extLst>
          </p:cNvPr>
          <p:cNvSpPr>
            <a:spLocks noGrp="1"/>
          </p:cNvSpPr>
          <p:nvPr>
            <p:ph idx="1"/>
          </p:nvPr>
        </p:nvSpPr>
        <p:spPr>
          <a:xfrm>
            <a:off x="285135" y="570271"/>
            <a:ext cx="8593394" cy="6287729"/>
          </a:xfrm>
        </p:spPr>
        <p:txBody>
          <a:bodyPr>
            <a:noAutofit/>
          </a:bodyPr>
          <a:lstStyle/>
          <a:p>
            <a:pPr marL="0" indent="0">
              <a:lnSpc>
                <a:spcPct val="150000"/>
              </a:lnSpc>
              <a:buNone/>
            </a:pPr>
            <a:r>
              <a:rPr lang="en-US" altLang="en-US" sz="1800" b="1" dirty="0">
                <a:latin typeface="Times New Roman" panose="02020603050405020304" pitchFamily="18" charset="0"/>
                <a:cs typeface="Times New Roman" panose="02020603050405020304" pitchFamily="18" charset="0"/>
              </a:rPr>
              <a:t>1.</a:t>
            </a:r>
            <a:r>
              <a:rPr lang="en-US" altLang="en-US" sz="2000" b="1" dirty="0">
                <a:latin typeface="Times New Roman" panose="02020603050405020304" pitchFamily="18" charset="0"/>
                <a:cs typeface="Times New Roman" panose="02020603050405020304" pitchFamily="18" charset="0"/>
              </a:rPr>
              <a:t>Contract Type vs. Churn Rate</a:t>
            </a:r>
            <a:endParaRPr lang="en-US" altLang="en-US" sz="1800" b="1"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Visualization</a:t>
            </a:r>
            <a:r>
              <a:rPr lang="en-US" altLang="en-US" sz="1800" dirty="0">
                <a:latin typeface="Times New Roman" panose="02020603050405020304" pitchFamily="18" charset="0"/>
                <a:cs typeface="Times New Roman" panose="02020603050405020304" pitchFamily="18" charset="0"/>
              </a:rPr>
              <a:t>: A Column Chart </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Purpose</a:t>
            </a:r>
            <a:r>
              <a:rPr lang="en-US" altLang="en-US" sz="1800" dirty="0">
                <a:latin typeface="Times New Roman" panose="02020603050405020304" pitchFamily="18" charset="0"/>
                <a:cs typeface="Times New Roman" panose="02020603050405020304" pitchFamily="18" charset="0"/>
              </a:rPr>
              <a:t>: To identify which contract length exposes the business to the highest churn risk and how contract term length influences customer loyalty.</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Insights</a:t>
            </a:r>
            <a:r>
              <a:rPr lang="en-US" altLang="en-US" sz="1800" dirty="0">
                <a:latin typeface="Times New Roman" panose="02020603050405020304" pitchFamily="18" charset="0"/>
                <a:cs typeface="Times New Roman" panose="02020603050405020304" pitchFamily="18" charset="0"/>
              </a:rPr>
              <a:t>: The Month-to-month contract segment is the primary source of churn, with a striking rate of $42.7\%$. This rate is dramatically higher than the highly stable Two-year contract rate of just $2.85\%$.</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Business Action</a:t>
            </a:r>
            <a:r>
              <a:rPr lang="en-US" altLang="en-US" sz="1800" dirty="0">
                <a:latin typeface="Times New Roman" panose="02020603050405020304" pitchFamily="18" charset="0"/>
                <a:cs typeface="Times New Roman" panose="02020603050405020304" pitchFamily="18" charset="0"/>
              </a:rPr>
              <a:t>: Immediately launch loyalty programs and targeted offers for Month-to-month customers to incentivize them to sign a 12- or 24-month contract, effectively locking in stability.</a:t>
            </a:r>
          </a:p>
          <a:p>
            <a:pPr marL="0" indent="0">
              <a:buNone/>
            </a:pPr>
            <a:r>
              <a:rPr lang="en-US" sz="1800" b="1"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Average of Monthly Charges by Payment Method</a:t>
            </a:r>
          </a:p>
          <a:p>
            <a:pPr algn="just">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Visualization</a:t>
            </a:r>
            <a:r>
              <a:rPr lang="en-US" sz="1800" dirty="0">
                <a:latin typeface="Times New Roman" panose="02020603050405020304" pitchFamily="18" charset="0"/>
                <a:cs typeface="Times New Roman" panose="02020603050405020304" pitchFamily="18" charset="0"/>
              </a:rPr>
              <a:t>: Bar chart</a:t>
            </a:r>
          </a:p>
          <a:p>
            <a:pPr algn="just">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Purpose</a:t>
            </a:r>
            <a:r>
              <a:rPr lang="en-US" sz="1800" dirty="0">
                <a:latin typeface="Times New Roman" panose="02020603050405020304" pitchFamily="18" charset="0"/>
                <a:cs typeface="Times New Roman" panose="02020603050405020304" pitchFamily="18" charset="0"/>
              </a:rPr>
              <a:t>: To compare the average monthly charges paid by customers across different payment methods.</a:t>
            </a:r>
          </a:p>
          <a:p>
            <a:pPr algn="just">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Insight:</a:t>
            </a:r>
            <a:r>
              <a:rPr lang="en-US" sz="1800" dirty="0">
                <a:latin typeface="Times New Roman" panose="02020603050405020304" pitchFamily="18" charset="0"/>
                <a:cs typeface="Times New Roman" panose="02020603050405020304" pitchFamily="18" charset="0"/>
              </a:rPr>
              <a:t> Customers who use Electronic Check have the highest average monthly charges. The charges for Bank Transfer (Automatic) and Credit card (Automatic) are slightly lower but similar to each other. Customers who use Mailed Check have the lowest average monthly charges.</a:t>
            </a:r>
          </a:p>
          <a:p>
            <a:pPr algn="just">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Business Action</a:t>
            </a:r>
            <a:r>
              <a:rPr lang="en-US" sz="1800" dirty="0">
                <a:latin typeface="Times New Roman" panose="02020603050405020304" pitchFamily="18" charset="0"/>
                <a:cs typeface="Times New Roman" panose="02020603050405020304" pitchFamily="18" charset="0"/>
              </a:rPr>
              <a:t>: Investigate and Upsell, Target Mailed Check Users, Prioritize High-Value Experience</a:t>
            </a:r>
          </a:p>
          <a:p>
            <a:pPr marL="0" indent="0">
              <a:buNone/>
            </a:pPr>
            <a:endParaRPr lang="en-US" sz="1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C360520-C2E2-23C8-E707-AD8384C8C804}"/>
              </a:ext>
            </a:extLst>
          </p:cNvPr>
          <p:cNvPicPr>
            <a:picLocks noChangeAspect="1"/>
          </p:cNvPicPr>
          <p:nvPr/>
        </p:nvPicPr>
        <p:blipFill>
          <a:blip r:embed="rId2"/>
          <a:stretch>
            <a:fillRect/>
          </a:stretch>
        </p:blipFill>
        <p:spPr>
          <a:xfrm>
            <a:off x="9161502" y="570271"/>
            <a:ext cx="2745363" cy="2674374"/>
          </a:xfrm>
          <a:prstGeom prst="rect">
            <a:avLst/>
          </a:prstGeom>
        </p:spPr>
      </p:pic>
      <p:sp>
        <p:nvSpPr>
          <p:cNvPr id="6" name="AutoShape 2" descr="Uploaded image preview">
            <a:extLst>
              <a:ext uri="{FF2B5EF4-FFF2-40B4-BE49-F238E27FC236}">
                <a16:creationId xmlns:a16="http://schemas.microsoft.com/office/drawing/2014/main" id="{B808ACBF-2635-230B-9720-65A646B62CF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4" descr="Selected image presented in a lightbox.">
            <a:extLst>
              <a:ext uri="{FF2B5EF4-FFF2-40B4-BE49-F238E27FC236}">
                <a16:creationId xmlns:a16="http://schemas.microsoft.com/office/drawing/2014/main" id="{D568B928-14B3-5640-6B24-20D7B56677C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A0F67FD0-7DC8-E322-33D2-4C78FEAA340D}"/>
              </a:ext>
            </a:extLst>
          </p:cNvPr>
          <p:cNvPicPr>
            <a:picLocks noChangeAspect="1"/>
          </p:cNvPicPr>
          <p:nvPr/>
        </p:nvPicPr>
        <p:blipFill>
          <a:blip r:embed="rId3"/>
          <a:stretch>
            <a:fillRect/>
          </a:stretch>
        </p:blipFill>
        <p:spPr>
          <a:xfrm>
            <a:off x="9242324" y="3276600"/>
            <a:ext cx="2664541" cy="2674374"/>
          </a:xfrm>
          <a:prstGeom prst="rect">
            <a:avLst/>
          </a:prstGeom>
        </p:spPr>
      </p:pic>
      <p:pic>
        <p:nvPicPr>
          <p:cNvPr id="8" name="Picture 7">
            <a:extLst>
              <a:ext uri="{FF2B5EF4-FFF2-40B4-BE49-F238E27FC236}">
                <a16:creationId xmlns:a16="http://schemas.microsoft.com/office/drawing/2014/main" id="{85BCE8D7-68F2-AAF4-790F-9521A8275D1A}"/>
              </a:ext>
            </a:extLst>
          </p:cNvPr>
          <p:cNvPicPr>
            <a:picLocks noChangeAspect="1"/>
          </p:cNvPicPr>
          <p:nvPr/>
        </p:nvPicPr>
        <p:blipFill>
          <a:blip r:embed="rId4"/>
          <a:stretch>
            <a:fillRect/>
          </a:stretch>
        </p:blipFill>
        <p:spPr>
          <a:xfrm>
            <a:off x="9376806" y="5980471"/>
            <a:ext cx="2530059" cy="670618"/>
          </a:xfrm>
          <a:prstGeom prst="rect">
            <a:avLst/>
          </a:prstGeom>
        </p:spPr>
      </p:pic>
    </p:spTree>
    <p:extLst>
      <p:ext uri="{BB962C8B-B14F-4D97-AF65-F5344CB8AC3E}">
        <p14:creationId xmlns:p14="http://schemas.microsoft.com/office/powerpoint/2010/main" val="466824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Selected image presented in a lightbox.">
            <a:extLst>
              <a:ext uri="{FF2B5EF4-FFF2-40B4-BE49-F238E27FC236}">
                <a16:creationId xmlns:a16="http://schemas.microsoft.com/office/drawing/2014/main" id="{BBC4AB2F-7E70-F141-D570-C4CE30BA99C2}"/>
              </a:ext>
            </a:extLst>
          </p:cNvPr>
          <p:cNvSpPr>
            <a:spLocks noGrp="1" noChangeAspect="1" noChangeArrowheads="1"/>
          </p:cNvSpPr>
          <p:nvPr>
            <p:ph idx="1"/>
          </p:nvPr>
        </p:nvSpPr>
        <p:spPr bwMode="auto">
          <a:xfrm>
            <a:off x="245806" y="260259"/>
            <a:ext cx="11769214" cy="6238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p>
            <a:r>
              <a:rPr lang="en-US" dirty="0"/>
              <a:t>3.Count of Churn by Paperless Billing</a:t>
            </a:r>
          </a:p>
          <a:p>
            <a:endParaRPr lang="en-US" dirty="0"/>
          </a:p>
          <a:p>
            <a:endParaRPr lang="en-US" dirty="0"/>
          </a:p>
          <a:p>
            <a:pPr marL="0" indent="0">
              <a:buNone/>
            </a:pPr>
            <a:endParaRPr lang="en-US" dirty="0"/>
          </a:p>
          <a:p>
            <a:pPr marL="0" indent="0">
              <a:buNone/>
            </a:pPr>
            <a:endParaRPr lang="en-US" dirty="0"/>
          </a:p>
          <a:p>
            <a:pPr marL="0" indent="0">
              <a:buNone/>
            </a:pPr>
            <a:endParaRPr lang="en-US" dirty="0"/>
          </a:p>
          <a:p>
            <a:endParaRPr lang="en-US" dirty="0"/>
          </a:p>
          <a:p>
            <a:pPr algn="just">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Visualization</a:t>
            </a:r>
            <a:r>
              <a:rPr lang="en-US" sz="2000" dirty="0">
                <a:latin typeface="Times New Roman" panose="02020603050405020304" pitchFamily="18" charset="0"/>
                <a:cs typeface="Times New Roman" panose="02020603050405020304" pitchFamily="18" charset="0"/>
              </a:rPr>
              <a:t>: Donut chart</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b="1" dirty="0">
                <a:latin typeface="Times New Roman" panose="02020603050405020304" pitchFamily="18" charset="0"/>
                <a:cs typeface="Times New Roman" panose="02020603050405020304" pitchFamily="18" charset="0"/>
              </a:rPr>
              <a:t>Purpose: </a:t>
            </a:r>
            <a:r>
              <a:rPr lang="en-US" altLang="en-US" sz="2000" dirty="0">
                <a:latin typeface="Times New Roman" panose="02020603050405020304" pitchFamily="18" charset="0"/>
                <a:cs typeface="Times New Roman" panose="02020603050405020304" pitchFamily="18" charset="0"/>
              </a:rPr>
              <a:t>To show the distribution of churned customers based on whether they had Paperless Billing ("Yes" or "No").</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b="1" dirty="0">
                <a:latin typeface="Times New Roman" panose="02020603050405020304" pitchFamily="18" charset="0"/>
                <a:cs typeface="Times New Roman" panose="02020603050405020304" pitchFamily="18" charset="0"/>
              </a:rPr>
              <a:t>Insight:</a:t>
            </a:r>
            <a:r>
              <a:rPr lang="en-US" altLang="en-US" sz="2000" dirty="0">
                <a:latin typeface="Times New Roman" panose="02020603050405020304" pitchFamily="18" charset="0"/>
                <a:cs typeface="Times New Roman" panose="02020603050405020304" pitchFamily="18" charset="0"/>
              </a:rPr>
              <a:t> A significantly higher proportion of churned customers had Paperless Billing. Specifically, $4.17$K (or $59.22\%$) of the churned customers had Paperless Billing, while $2.87$K (or $40.7\%$) of the churned customers did not. </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b="1" dirty="0">
                <a:latin typeface="Times New Roman" panose="02020603050405020304" pitchFamily="18" charset="0"/>
                <a:cs typeface="Times New Roman" panose="02020603050405020304" pitchFamily="18" charset="0"/>
              </a:rPr>
              <a:t>Business Action: </a:t>
            </a:r>
            <a:r>
              <a:rPr lang="en-US" altLang="en-US" sz="2000" dirty="0">
                <a:latin typeface="Times New Roman" panose="02020603050405020304" pitchFamily="18" charset="0"/>
                <a:cs typeface="Times New Roman" panose="02020603050405020304" pitchFamily="18" charset="0"/>
              </a:rPr>
              <a:t>Investigate the Paperless Billing process and customer experience.</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Action 1: Survey or conduct focus groups with customers who recently churned and were on Paperless Billing to understand if there were any frustrations or issues related to receiving, accessing, or managing their bills.</a:t>
            </a:r>
          </a:p>
          <a:p>
            <a:pPr marL="0" indent="0" algn="just">
              <a:buNone/>
            </a:pPr>
            <a:endParaRPr lang="en-US" sz="2000" dirty="0">
              <a:latin typeface="Times New Roman" panose="02020603050405020304" pitchFamily="18" charset="0"/>
              <a:cs typeface="Times New Roman" panose="02020603050405020304" pitchFamily="18" charset="0"/>
            </a:endParaRPr>
          </a:p>
          <a:p>
            <a:endParaRPr lang="en-US" dirty="0"/>
          </a:p>
        </p:txBody>
      </p:sp>
      <p:pic>
        <p:nvPicPr>
          <p:cNvPr id="7" name="Picture 6">
            <a:extLst>
              <a:ext uri="{FF2B5EF4-FFF2-40B4-BE49-F238E27FC236}">
                <a16:creationId xmlns:a16="http://schemas.microsoft.com/office/drawing/2014/main" id="{34BF75BD-9282-B566-EE89-FD3B49227713}"/>
              </a:ext>
            </a:extLst>
          </p:cNvPr>
          <p:cNvPicPr>
            <a:picLocks noChangeAspect="1"/>
          </p:cNvPicPr>
          <p:nvPr/>
        </p:nvPicPr>
        <p:blipFill>
          <a:blip r:embed="rId2"/>
          <a:stretch>
            <a:fillRect/>
          </a:stretch>
        </p:blipFill>
        <p:spPr>
          <a:xfrm>
            <a:off x="3028332" y="810008"/>
            <a:ext cx="3549447" cy="2618991"/>
          </a:xfrm>
          <a:prstGeom prst="rect">
            <a:avLst/>
          </a:prstGeom>
        </p:spPr>
      </p:pic>
      <p:pic>
        <p:nvPicPr>
          <p:cNvPr id="3" name="Picture 2">
            <a:extLst>
              <a:ext uri="{FF2B5EF4-FFF2-40B4-BE49-F238E27FC236}">
                <a16:creationId xmlns:a16="http://schemas.microsoft.com/office/drawing/2014/main" id="{FA50DD11-8BF1-EC44-FADF-4273B2231879}"/>
              </a:ext>
            </a:extLst>
          </p:cNvPr>
          <p:cNvPicPr>
            <a:picLocks noChangeAspect="1"/>
          </p:cNvPicPr>
          <p:nvPr/>
        </p:nvPicPr>
        <p:blipFill>
          <a:blip r:embed="rId3"/>
          <a:stretch>
            <a:fillRect/>
          </a:stretch>
        </p:blipFill>
        <p:spPr>
          <a:xfrm>
            <a:off x="9416135" y="6004039"/>
            <a:ext cx="2530059" cy="670618"/>
          </a:xfrm>
          <a:prstGeom prst="rect">
            <a:avLst/>
          </a:prstGeom>
        </p:spPr>
      </p:pic>
    </p:spTree>
    <p:extLst>
      <p:ext uri="{BB962C8B-B14F-4D97-AF65-F5344CB8AC3E}">
        <p14:creationId xmlns:p14="http://schemas.microsoft.com/office/powerpoint/2010/main" val="338829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D5673-0289-B443-4BD6-A272B8D1DC26}"/>
              </a:ext>
            </a:extLst>
          </p:cNvPr>
          <p:cNvSpPr>
            <a:spLocks noGrp="1"/>
          </p:cNvSpPr>
          <p:nvPr>
            <p:ph type="title"/>
          </p:nvPr>
        </p:nvSpPr>
        <p:spPr>
          <a:xfrm>
            <a:off x="1310149" y="68826"/>
            <a:ext cx="8236974" cy="612211"/>
          </a:xfrm>
        </p:spPr>
        <p:txBody>
          <a:bodyPr>
            <a:norm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Churn Prediction &amp; Key Driver</a:t>
            </a:r>
            <a:endParaRPr lang="en-US" sz="2800" dirty="0">
              <a:solidFill>
                <a:srgbClr val="FF0000"/>
              </a:solidFill>
            </a:endParaRPr>
          </a:p>
        </p:txBody>
      </p:sp>
      <p:sp>
        <p:nvSpPr>
          <p:cNvPr id="3" name="Content Placeholder 2">
            <a:extLst>
              <a:ext uri="{FF2B5EF4-FFF2-40B4-BE49-F238E27FC236}">
                <a16:creationId xmlns:a16="http://schemas.microsoft.com/office/drawing/2014/main" id="{D4BBB476-7AC7-3C80-086B-4AB530E7F39D}"/>
              </a:ext>
            </a:extLst>
          </p:cNvPr>
          <p:cNvSpPr>
            <a:spLocks noGrp="1"/>
          </p:cNvSpPr>
          <p:nvPr>
            <p:ph idx="1"/>
          </p:nvPr>
        </p:nvSpPr>
        <p:spPr>
          <a:xfrm>
            <a:off x="147483" y="609600"/>
            <a:ext cx="8976851" cy="6179574"/>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1.Count of customer ID by Churn</a:t>
            </a:r>
          </a:p>
          <a:p>
            <a:pPr algn="just">
              <a:buFont typeface="Wingdings" panose="05000000000000000000" pitchFamily="2" charset="2"/>
              <a:buChar char="§"/>
            </a:pPr>
            <a:r>
              <a:rPr lang="en-US" sz="1900" b="1" dirty="0">
                <a:latin typeface="Times New Roman" panose="02020603050405020304" pitchFamily="18" charset="0"/>
                <a:cs typeface="Times New Roman" panose="02020603050405020304" pitchFamily="18" charset="0"/>
              </a:rPr>
              <a:t>Visualization:</a:t>
            </a:r>
            <a:r>
              <a:rPr lang="en-US" sz="1900" dirty="0">
                <a:latin typeface="Times New Roman" panose="02020603050405020304" pitchFamily="18" charset="0"/>
                <a:cs typeface="Times New Roman" panose="02020603050405020304" pitchFamily="18" charset="0"/>
              </a:rPr>
              <a:t> Donut chart</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900" b="1" dirty="0">
                <a:latin typeface="Times New Roman" panose="02020603050405020304" pitchFamily="18" charset="0"/>
                <a:cs typeface="Times New Roman" panose="02020603050405020304" pitchFamily="18" charset="0"/>
              </a:rPr>
              <a:t>Purpose:</a:t>
            </a:r>
            <a:r>
              <a:rPr lang="en-US" altLang="en-US" sz="1900" dirty="0">
                <a:latin typeface="Times New Roman" panose="02020603050405020304" pitchFamily="18" charset="0"/>
                <a:cs typeface="Times New Roman" panose="02020603050405020304" pitchFamily="18" charset="0"/>
              </a:rPr>
              <a:t> To display the overall proportion of customers who have churned ("Yes") versus those who have not ("No") within the analyzed dataset.</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900" b="1" dirty="0">
                <a:latin typeface="Times New Roman" panose="02020603050405020304" pitchFamily="18" charset="0"/>
                <a:cs typeface="Times New Roman" panose="02020603050405020304" pitchFamily="18" charset="0"/>
              </a:rPr>
              <a:t>Insight:</a:t>
            </a:r>
            <a:r>
              <a:rPr lang="en-US" altLang="en-US" sz="1900" dirty="0">
                <a:latin typeface="Times New Roman" panose="02020603050405020304" pitchFamily="18" charset="0"/>
                <a:cs typeface="Times New Roman" panose="02020603050405020304" pitchFamily="18" charset="0"/>
              </a:rPr>
              <a:t> The majority of customers have not churned ("No"). of the customers have churned. The overall churn rate is approximately $19.11\%$. while $0.31$K </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900" b="1" dirty="0">
                <a:latin typeface="Times New Roman" panose="02020603050405020304" pitchFamily="18" charset="0"/>
                <a:cs typeface="Times New Roman" panose="02020603050405020304" pitchFamily="18" charset="0"/>
              </a:rPr>
              <a:t>Business Action: </a:t>
            </a:r>
            <a:r>
              <a:rPr lang="en-US" altLang="en-US" sz="1900" dirty="0">
                <a:latin typeface="Times New Roman" panose="02020603050405020304" pitchFamily="18" charset="0"/>
                <a:cs typeface="Times New Roman" panose="02020603050405020304" pitchFamily="18" charset="0"/>
              </a:rPr>
              <a:t>Retention Develop proactive retention strategies for the $80.89\%$ of current customers to ensure they remain satisfied and don't contribute to future churn. </a:t>
            </a:r>
            <a:endParaRPr lang="en-US" sz="19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2. </a:t>
            </a:r>
            <a:r>
              <a:rPr lang="en-US" sz="2400" b="1" dirty="0">
                <a:latin typeface="Times New Roman" panose="02020603050405020304" pitchFamily="18" charset="0"/>
                <a:cs typeface="Times New Roman" panose="02020603050405020304" pitchFamily="18" charset="0"/>
              </a:rPr>
              <a:t>Factors have the strongest influence on customer churn</a:t>
            </a:r>
          </a:p>
          <a:p>
            <a:pPr algn="just">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Visualization:</a:t>
            </a:r>
            <a:r>
              <a:rPr lang="en-US" sz="1800" dirty="0">
                <a:latin typeface="Times New Roman" panose="02020603050405020304" pitchFamily="18" charset="0"/>
                <a:cs typeface="Times New Roman" panose="02020603050405020304" pitchFamily="18" charset="0"/>
              </a:rPr>
              <a:t> "Key influencers" analysis chart</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Purpose</a:t>
            </a:r>
            <a:r>
              <a:rPr lang="en-US" altLang="en-US" sz="1800" dirty="0">
                <a:latin typeface="Times New Roman" panose="02020603050405020304" pitchFamily="18" charset="0"/>
                <a:cs typeface="Times New Roman" panose="02020603050405020304" pitchFamily="18" charset="0"/>
              </a:rPr>
              <a:t>: To identify the key factors (customer attributes or services) that most significantly increase the likelihood of a customer churning.</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Insight</a:t>
            </a:r>
            <a:r>
              <a:rPr lang="en-US" altLang="en-US" sz="1800" dirty="0">
                <a:latin typeface="Times New Roman" panose="02020603050405020304" pitchFamily="18" charset="0"/>
                <a:cs typeface="Times New Roman" panose="02020603050405020304" pitchFamily="18" charset="0"/>
              </a:rPr>
              <a:t>:</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Contract Type is the Dominant Factor: The single most influential factor increasing the likelihood of churn is the customer having a Month-to-month contract. </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Service Type is a Secondary Factor: Having Fiber optic Internet Service is the second-most influential factor, increasing the likelihood of churn by $2.92$ times.</a:t>
            </a:r>
          </a:p>
          <a:p>
            <a:pPr lvl="0" algn="just" eaLnBrk="0" fontAlgn="base" hangingPunct="0">
              <a:lnSpc>
                <a:spcPct val="100000"/>
              </a:lnSpc>
              <a:spcBef>
                <a:spcPct val="0"/>
              </a:spcBef>
              <a:spcAft>
                <a:spcPct val="0"/>
              </a:spcAft>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Business Action: </a:t>
            </a:r>
            <a:r>
              <a:rPr lang="en-US" altLang="en-US" sz="1800" dirty="0">
                <a:latin typeface="Times New Roman" panose="02020603050405020304" pitchFamily="18" charset="0"/>
                <a:cs typeface="Times New Roman" panose="02020603050405020304" pitchFamily="18" charset="0"/>
              </a:rPr>
              <a:t>Prioritize switching customers from short-term to long-term contracts and investigate the fiber optic service experience.</a:t>
            </a:r>
          </a:p>
          <a:p>
            <a:pPr marL="0" indent="0">
              <a:buNone/>
            </a:pPr>
            <a:endParaRPr lang="en-US" dirty="0"/>
          </a:p>
          <a:p>
            <a:pPr marL="0" indent="0">
              <a:buNone/>
            </a:pPr>
            <a:endParaRPr lang="en-US"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DD6F8BD-9ACD-23BA-0888-230E4B777643}"/>
              </a:ext>
            </a:extLst>
          </p:cNvPr>
          <p:cNvPicPr>
            <a:picLocks noChangeAspect="1"/>
          </p:cNvPicPr>
          <p:nvPr/>
        </p:nvPicPr>
        <p:blipFill>
          <a:blip r:embed="rId2"/>
          <a:stretch>
            <a:fillRect/>
          </a:stretch>
        </p:blipFill>
        <p:spPr>
          <a:xfrm>
            <a:off x="9124334" y="502885"/>
            <a:ext cx="2836832" cy="2108733"/>
          </a:xfrm>
          <a:prstGeom prst="rect">
            <a:avLst/>
          </a:prstGeom>
        </p:spPr>
      </p:pic>
      <p:pic>
        <p:nvPicPr>
          <p:cNvPr id="6" name="Picture 5">
            <a:extLst>
              <a:ext uri="{FF2B5EF4-FFF2-40B4-BE49-F238E27FC236}">
                <a16:creationId xmlns:a16="http://schemas.microsoft.com/office/drawing/2014/main" id="{B15FCB76-91AA-4BB8-FFDA-774637380418}"/>
              </a:ext>
            </a:extLst>
          </p:cNvPr>
          <p:cNvPicPr>
            <a:picLocks noChangeAspect="1"/>
          </p:cNvPicPr>
          <p:nvPr/>
        </p:nvPicPr>
        <p:blipFill>
          <a:blip r:embed="rId3"/>
          <a:stretch>
            <a:fillRect/>
          </a:stretch>
        </p:blipFill>
        <p:spPr>
          <a:xfrm>
            <a:off x="9124334" y="2847229"/>
            <a:ext cx="3067666" cy="2798307"/>
          </a:xfrm>
          <a:prstGeom prst="rect">
            <a:avLst/>
          </a:prstGeom>
        </p:spPr>
      </p:pic>
      <p:pic>
        <p:nvPicPr>
          <p:cNvPr id="7" name="Picture 6">
            <a:extLst>
              <a:ext uri="{FF2B5EF4-FFF2-40B4-BE49-F238E27FC236}">
                <a16:creationId xmlns:a16="http://schemas.microsoft.com/office/drawing/2014/main" id="{F0CB0D6E-1CB2-001F-16BB-C995554ADC91}"/>
              </a:ext>
            </a:extLst>
          </p:cNvPr>
          <p:cNvPicPr>
            <a:picLocks noChangeAspect="1"/>
          </p:cNvPicPr>
          <p:nvPr/>
        </p:nvPicPr>
        <p:blipFill>
          <a:blip r:embed="rId4"/>
          <a:stretch>
            <a:fillRect/>
          </a:stretch>
        </p:blipFill>
        <p:spPr>
          <a:xfrm>
            <a:off x="9431107" y="5881147"/>
            <a:ext cx="2530059" cy="670618"/>
          </a:xfrm>
          <a:prstGeom prst="rect">
            <a:avLst/>
          </a:prstGeom>
        </p:spPr>
      </p:pic>
    </p:spTree>
    <p:extLst>
      <p:ext uri="{BB962C8B-B14F-4D97-AF65-F5344CB8AC3E}">
        <p14:creationId xmlns:p14="http://schemas.microsoft.com/office/powerpoint/2010/main" val="4193763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B498BF-2757-CD38-6087-A2ADB6032A67}"/>
              </a:ext>
            </a:extLst>
          </p:cNvPr>
          <p:cNvSpPr>
            <a:spLocks noGrp="1"/>
          </p:cNvSpPr>
          <p:nvPr>
            <p:ph idx="1"/>
          </p:nvPr>
        </p:nvSpPr>
        <p:spPr>
          <a:xfrm>
            <a:off x="265471" y="176982"/>
            <a:ext cx="11602063" cy="6022258"/>
          </a:xfrm>
        </p:spPr>
        <p:txBody>
          <a:bodyPr>
            <a:normAutofit fontScale="92500" lnSpcReduction="10000"/>
          </a:bodyPr>
          <a:lstStyle/>
          <a:p>
            <a:pPr marL="0" indent="0">
              <a:buNone/>
            </a:pPr>
            <a:r>
              <a:rPr lang="en-US" sz="2000" b="1" dirty="0">
                <a:latin typeface="Times New Roman" panose="02020603050405020304" pitchFamily="18" charset="0"/>
                <a:cs typeface="Times New Roman" panose="02020603050405020304" pitchFamily="18" charset="0"/>
              </a:rPr>
              <a:t>3.Count of Payment Method , Count of Tech Support and Churn Rate by Internet Service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Visualization:</a:t>
            </a:r>
            <a:r>
              <a:rPr lang="en-US" sz="1800" dirty="0">
                <a:latin typeface="Times New Roman" panose="02020603050405020304" pitchFamily="18" charset="0"/>
                <a:cs typeface="Times New Roman" panose="02020603050405020304" pitchFamily="18" charset="0"/>
              </a:rPr>
              <a:t> Stacked bar chart</a:t>
            </a:r>
          </a:p>
          <a:p>
            <a:pPr marL="0" indent="0">
              <a:buNone/>
            </a:pPr>
            <a:r>
              <a:rPr lang="en-US" sz="1800" b="1" dirty="0">
                <a:latin typeface="Times New Roman" panose="02020603050405020304" pitchFamily="18" charset="0"/>
                <a:cs typeface="Times New Roman" panose="02020603050405020304" pitchFamily="18" charset="0"/>
              </a:rPr>
              <a:t>Purpose:</a:t>
            </a:r>
            <a:r>
              <a:rPr lang="en-US" sz="1800" dirty="0">
                <a:latin typeface="Times New Roman" panose="02020603050405020304" pitchFamily="18" charset="0"/>
                <a:cs typeface="Times New Roman" panose="02020603050405020304" pitchFamily="18" charset="0"/>
              </a:rPr>
              <a:t> To compare the number of customers across different Internet Service types based on the counts of "Payment Method" and "Tech Support" entries.</a:t>
            </a:r>
          </a:p>
          <a:p>
            <a:pPr marL="0" lvl="0" indent="0" algn="just" eaLnBrk="0" fontAlgn="base" hangingPunct="0">
              <a:lnSpc>
                <a:spcPct val="100000"/>
              </a:lnSpc>
              <a:spcBef>
                <a:spcPct val="0"/>
              </a:spcBef>
              <a:spcAft>
                <a:spcPct val="0"/>
              </a:spcAft>
              <a:buNone/>
            </a:pPr>
            <a:r>
              <a:rPr lang="en-US" altLang="en-US" sz="1800" b="1" dirty="0">
                <a:latin typeface="Times New Roman" panose="02020603050405020304" pitchFamily="18" charset="0"/>
                <a:cs typeface="Times New Roman" panose="02020603050405020304" pitchFamily="18" charset="0"/>
              </a:rPr>
              <a:t>Insight </a:t>
            </a:r>
            <a:r>
              <a:rPr lang="en-US" altLang="en-US" sz="1800" dirty="0">
                <a:latin typeface="Times New Roman" panose="02020603050405020304" pitchFamily="18" charset="0"/>
                <a:cs typeface="Times New Roman" panose="02020603050405020304" pitchFamily="18" charset="0"/>
              </a:rPr>
              <a:t>(Based on Counts):</a:t>
            </a:r>
          </a:p>
          <a:p>
            <a:pPr marL="0" lvl="0" indent="0" algn="just" eaLnBrk="0" fontAlgn="base" hangingPunct="0">
              <a:lnSpc>
                <a:spcPct val="100000"/>
              </a:lnSpc>
              <a:spcBef>
                <a:spcPct val="0"/>
              </a:spcBef>
              <a:spcAft>
                <a:spcPct val="0"/>
              </a:spcAft>
              <a:buNone/>
            </a:pPr>
            <a:r>
              <a:rPr lang="en-US" altLang="en-US" sz="1800" dirty="0">
                <a:latin typeface="Times New Roman" panose="02020603050405020304" pitchFamily="18" charset="0"/>
                <a:cs typeface="Times New Roman" panose="02020603050405020304" pitchFamily="18" charset="0"/>
              </a:rPr>
              <a:t>The visualization shows the distribution of customers across the three Internet Service categories:</a:t>
            </a:r>
          </a:p>
          <a:p>
            <a:pPr marL="0" lvl="0" indent="0" algn="just"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No Internet Service (No):</a:t>
            </a:r>
            <a:r>
              <a:rPr lang="en-US" altLang="en-US" sz="1800" dirty="0">
                <a:latin typeface="Times New Roman" panose="02020603050405020304" pitchFamily="18" charset="0"/>
                <a:cs typeface="Times New Roman" panose="02020603050405020304" pitchFamily="18" charset="0"/>
              </a:rPr>
              <a:t> Highest count of {741}$ customers.</a:t>
            </a:r>
          </a:p>
          <a:p>
            <a:pPr marL="0" lvl="0" indent="0" algn="just"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DSL:</a:t>
            </a:r>
            <a:r>
              <a:rPr lang="en-US" altLang="en-US" sz="1800" dirty="0">
                <a:latin typeface="Times New Roman" panose="02020603050405020304" pitchFamily="18" charset="0"/>
                <a:cs typeface="Times New Roman" panose="02020603050405020304" pitchFamily="18" charset="0"/>
              </a:rPr>
              <a:t> Moderate count of {613}$ customers.</a:t>
            </a:r>
          </a:p>
          <a:p>
            <a:pPr marL="0" lvl="0" indent="0" algn="just"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Fiber Optic:</a:t>
            </a:r>
            <a:r>
              <a:rPr lang="en-US" altLang="en-US" sz="1800" dirty="0">
                <a:latin typeface="Times New Roman" panose="02020603050405020304" pitchFamily="18" charset="0"/>
                <a:cs typeface="Times New Roman" panose="02020603050405020304" pitchFamily="18" charset="0"/>
              </a:rPr>
              <a:t> Lowest count of {258}$ customers.</a:t>
            </a:r>
          </a:p>
          <a:p>
            <a:pPr marL="0" lvl="0" indent="0" algn="just" eaLnBrk="0" fontAlgn="base" hangingPunct="0">
              <a:lnSpc>
                <a:spcPct val="100000"/>
              </a:lnSpc>
              <a:spcBef>
                <a:spcPct val="0"/>
              </a:spcBef>
              <a:spcAft>
                <a:spcPct val="0"/>
              </a:spcAft>
              <a:buFontTx/>
              <a:buChar char="•"/>
            </a:pPr>
            <a:r>
              <a:rPr lang="en-US" sz="1800" b="1" dirty="0">
                <a:latin typeface="Times New Roman" panose="02020603050405020304" pitchFamily="18" charset="0"/>
                <a:cs typeface="Times New Roman" panose="02020603050405020304" pitchFamily="18" charset="0"/>
              </a:rPr>
              <a:t>Business Action: </a:t>
            </a:r>
            <a:r>
              <a:rPr lang="en-US" sz="1800" dirty="0">
                <a:latin typeface="Times New Roman" panose="02020603050405020304" pitchFamily="18" charset="0"/>
                <a:cs typeface="Times New Roman" panose="02020603050405020304" pitchFamily="18" charset="0"/>
              </a:rPr>
              <a:t>Confirm the actual Churn Rate for each service, as this critical data point is missing from the visualization but is necessary to prioritize retention efforts. Target the No Internet Service segment and Focus on Fiber Optic Growth/Fix.</a:t>
            </a:r>
          </a:p>
          <a:p>
            <a:pPr marL="0" indent="0">
              <a:buNone/>
            </a:pPr>
            <a:endParaRPr lang="en-US" dirty="0"/>
          </a:p>
        </p:txBody>
      </p:sp>
      <p:pic>
        <p:nvPicPr>
          <p:cNvPr id="5" name="Picture 4">
            <a:extLst>
              <a:ext uri="{FF2B5EF4-FFF2-40B4-BE49-F238E27FC236}">
                <a16:creationId xmlns:a16="http://schemas.microsoft.com/office/drawing/2014/main" id="{491AA073-EC1F-B4B3-A7B0-F07F71C8AB6F}"/>
              </a:ext>
            </a:extLst>
          </p:cNvPr>
          <p:cNvPicPr>
            <a:picLocks noChangeAspect="1"/>
          </p:cNvPicPr>
          <p:nvPr/>
        </p:nvPicPr>
        <p:blipFill>
          <a:blip r:embed="rId2"/>
          <a:stretch>
            <a:fillRect/>
          </a:stretch>
        </p:blipFill>
        <p:spPr>
          <a:xfrm>
            <a:off x="2789452" y="658761"/>
            <a:ext cx="6207064" cy="2281084"/>
          </a:xfrm>
          <a:prstGeom prst="rect">
            <a:avLst/>
          </a:prstGeom>
        </p:spPr>
      </p:pic>
      <p:pic>
        <p:nvPicPr>
          <p:cNvPr id="4" name="Picture 3">
            <a:extLst>
              <a:ext uri="{FF2B5EF4-FFF2-40B4-BE49-F238E27FC236}">
                <a16:creationId xmlns:a16="http://schemas.microsoft.com/office/drawing/2014/main" id="{AD3EAA7C-0EC2-01CC-7712-308942A30CD5}"/>
              </a:ext>
            </a:extLst>
          </p:cNvPr>
          <p:cNvPicPr>
            <a:picLocks noChangeAspect="1"/>
          </p:cNvPicPr>
          <p:nvPr/>
        </p:nvPicPr>
        <p:blipFill>
          <a:blip r:embed="rId3"/>
          <a:stretch>
            <a:fillRect/>
          </a:stretch>
        </p:blipFill>
        <p:spPr>
          <a:xfrm>
            <a:off x="9396470" y="6010400"/>
            <a:ext cx="2530059" cy="670618"/>
          </a:xfrm>
          <a:prstGeom prst="rect">
            <a:avLst/>
          </a:prstGeom>
        </p:spPr>
      </p:pic>
    </p:spTree>
    <p:extLst>
      <p:ext uri="{BB962C8B-B14F-4D97-AF65-F5344CB8AC3E}">
        <p14:creationId xmlns:p14="http://schemas.microsoft.com/office/powerpoint/2010/main" val="3753776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EB900-EC28-D3CF-D634-8657D003E10D}"/>
              </a:ext>
            </a:extLst>
          </p:cNvPr>
          <p:cNvSpPr>
            <a:spLocks noGrp="1"/>
          </p:cNvSpPr>
          <p:nvPr>
            <p:ph type="title"/>
          </p:nvPr>
        </p:nvSpPr>
        <p:spPr>
          <a:xfrm>
            <a:off x="275303" y="329312"/>
            <a:ext cx="3559279" cy="786581"/>
          </a:xfrm>
        </p:spPr>
        <p:txBody>
          <a:bodyPr>
            <a:norm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Key Insights</a:t>
            </a:r>
          </a:p>
        </p:txBody>
      </p:sp>
      <p:sp>
        <p:nvSpPr>
          <p:cNvPr id="4" name="Rectangle 1">
            <a:extLst>
              <a:ext uri="{FF2B5EF4-FFF2-40B4-BE49-F238E27FC236}">
                <a16:creationId xmlns:a16="http://schemas.microsoft.com/office/drawing/2014/main" id="{881AD49F-9B58-B641-F5C2-2A672F3069BB}"/>
              </a:ext>
            </a:extLst>
          </p:cNvPr>
          <p:cNvSpPr>
            <a:spLocks noGrp="1" noChangeArrowheads="1"/>
          </p:cNvSpPr>
          <p:nvPr>
            <p:ph idx="1"/>
          </p:nvPr>
        </p:nvSpPr>
        <p:spPr bwMode="auto">
          <a:xfrm>
            <a:off x="275303" y="1221182"/>
            <a:ext cx="1164139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Overall Churn Rate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(27%)</a:t>
            </a:r>
          </a:p>
          <a:p>
            <a:pPr marL="0" indent="0" algn="just" eaLnBrk="0" fontAlgn="base" hangingPunct="0">
              <a:lnSpc>
                <a:spcPct val="100000"/>
              </a:lnSpc>
              <a:spcBef>
                <a:spcPct val="0"/>
              </a:spcBef>
              <a:spcAft>
                <a:spcPct val="0"/>
              </a:spcAft>
              <a:buNone/>
            </a:pPr>
            <a:r>
              <a:rPr lang="en-US" altLang="en-US" sz="1800" dirty="0">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than 1 out of 4 customers have discontinued the service, showing a need for stronger retention efforts.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Short-   Term Customers Are Most Likely to Churn</a:t>
            </a:r>
            <a:endParaRPr lang="en-US" altLang="en-US" sz="1800" b="1"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Churn rate is highest during the first 6 months of customer tenure, suggesting weak initial engagement </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Contract Type Strongly Affects Retention</a:t>
            </a:r>
          </a:p>
          <a:p>
            <a:pPr marL="0" indent="0" algn="just" eaLnBrk="0" fontAlgn="base" hangingPunct="0">
              <a:lnSpc>
                <a:spcPct val="100000"/>
              </a:lnSpc>
              <a:spcBef>
                <a:spcPct val="0"/>
              </a:spcBef>
              <a:spcAft>
                <a:spcPct val="0"/>
              </a:spcAft>
              <a:buNone/>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Month-to-month users show the highest churn, while annual and two-year contracts significantly reduce churn.</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Senior Citizens Show Higher Churn</a:t>
            </a:r>
          </a:p>
          <a:p>
            <a:pPr marL="0" indent="0" algn="just" eaLnBrk="0" fontAlgn="base" hangingPunct="0">
              <a:lnSpc>
                <a:spcPct val="100000"/>
              </a:lnSpc>
              <a:spcBef>
                <a:spcPct val="0"/>
              </a:spcBef>
              <a:spcAft>
                <a:spcPct val="0"/>
              </a:spcAft>
              <a:buNone/>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Older customers are leaving at higher rates, possibly due to service complexity, pricing, or lack of tech     support.</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 Service Impacts Churn</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Fiber optic customers churn more likely due to higher costs or service dissatisfaction, while DSL users show moderate stability.</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Gender Has Minimal Effect on Churn</a:t>
            </a:r>
          </a:p>
          <a:p>
            <a:pPr marL="0" indent="0" algn="just" eaLnBrk="0" fontAlgn="base" hangingPunct="0">
              <a:lnSpc>
                <a:spcPct val="100000"/>
              </a:lnSpc>
              <a:spcBef>
                <a:spcPct val="0"/>
              </a:spcBef>
              <a:spcAft>
                <a:spcPct val="0"/>
              </a:spcAft>
              <a:buNone/>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Male and female customers have nearly equal churn rates, meaning gender is not a key predictor.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754C32D9-5683-9AF3-F0DD-25CE544C472D}"/>
              </a:ext>
            </a:extLst>
          </p:cNvPr>
          <p:cNvPicPr>
            <a:picLocks noChangeAspect="1"/>
          </p:cNvPicPr>
          <p:nvPr/>
        </p:nvPicPr>
        <p:blipFill>
          <a:blip r:embed="rId2"/>
          <a:stretch>
            <a:fillRect/>
          </a:stretch>
        </p:blipFill>
        <p:spPr>
          <a:xfrm>
            <a:off x="9461964" y="5945045"/>
            <a:ext cx="2530059" cy="670618"/>
          </a:xfrm>
          <a:prstGeom prst="rect">
            <a:avLst/>
          </a:prstGeom>
        </p:spPr>
      </p:pic>
    </p:spTree>
    <p:extLst>
      <p:ext uri="{BB962C8B-B14F-4D97-AF65-F5344CB8AC3E}">
        <p14:creationId xmlns:p14="http://schemas.microsoft.com/office/powerpoint/2010/main" val="731036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E3199-1ED2-666F-F80E-A4FDE8AB0911}"/>
              </a:ext>
            </a:extLst>
          </p:cNvPr>
          <p:cNvSpPr>
            <a:spLocks noGrp="1"/>
          </p:cNvSpPr>
          <p:nvPr>
            <p:ph type="title"/>
          </p:nvPr>
        </p:nvSpPr>
        <p:spPr>
          <a:xfrm>
            <a:off x="176981" y="358804"/>
            <a:ext cx="7774858" cy="746791"/>
          </a:xfrm>
        </p:spPr>
        <p:txBody>
          <a:bodyPr>
            <a:norm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Recommendations &amp; Conclusion</a:t>
            </a:r>
          </a:p>
        </p:txBody>
      </p:sp>
      <p:sp>
        <p:nvSpPr>
          <p:cNvPr id="4" name="Rectangle 1">
            <a:extLst>
              <a:ext uri="{FF2B5EF4-FFF2-40B4-BE49-F238E27FC236}">
                <a16:creationId xmlns:a16="http://schemas.microsoft.com/office/drawing/2014/main" id="{58D41C00-64E6-CDFF-E499-E820BE8455B3}"/>
              </a:ext>
            </a:extLst>
          </p:cNvPr>
          <p:cNvSpPr>
            <a:spLocks noGrp="1" noChangeArrowheads="1"/>
          </p:cNvSpPr>
          <p:nvPr>
            <p:ph idx="1"/>
          </p:nvPr>
        </p:nvSpPr>
        <p:spPr bwMode="auto">
          <a:xfrm>
            <a:off x="314633" y="1259572"/>
            <a:ext cx="1187736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Early-Stage Retention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Focus on the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first 3–6 months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introducing welcome offers, personalized onboarding, and follow-up calls.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 Long-Term Contracts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Encourage month-to-month customers to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upgrade to yearly or multi-year plans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discounts or bundled packages.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 Senior Citizens with Simpler Plans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easy-to-understand plans, provide 24/7 customer support, and offer senior-friendly digital assistance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Address Fiber Optic Service Issues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Review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pricing and service quality for fiber customers. Conduct feedback surveys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identify improvement areas.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Reward Loyalty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loyalty programs or cashback offers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customers with longer tenure to strengthen satisfaction and retention.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632C40A1-BBA7-4611-5321-4BFDB5DAD0C9}"/>
              </a:ext>
            </a:extLst>
          </p:cNvPr>
          <p:cNvPicPr>
            <a:picLocks noChangeAspect="1"/>
          </p:cNvPicPr>
          <p:nvPr/>
        </p:nvPicPr>
        <p:blipFill>
          <a:blip r:embed="rId2"/>
          <a:stretch>
            <a:fillRect/>
          </a:stretch>
        </p:blipFill>
        <p:spPr>
          <a:xfrm>
            <a:off x="9370141" y="5968179"/>
            <a:ext cx="2530059" cy="617987"/>
          </a:xfrm>
          <a:prstGeom prst="rect">
            <a:avLst/>
          </a:prstGeom>
        </p:spPr>
      </p:pic>
    </p:spTree>
    <p:extLst>
      <p:ext uri="{BB962C8B-B14F-4D97-AF65-F5344CB8AC3E}">
        <p14:creationId xmlns:p14="http://schemas.microsoft.com/office/powerpoint/2010/main" val="3497642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DE8DD-E25D-7EB1-5C1B-5967EE18D458}"/>
              </a:ext>
            </a:extLst>
          </p:cNvPr>
          <p:cNvSpPr>
            <a:spLocks noGrp="1"/>
          </p:cNvSpPr>
          <p:nvPr>
            <p:ph type="title"/>
          </p:nvPr>
        </p:nvSpPr>
        <p:spPr>
          <a:xfrm>
            <a:off x="3618271" y="158647"/>
            <a:ext cx="3716594" cy="903237"/>
          </a:xfrm>
        </p:spPr>
        <p:txBody>
          <a:bodyPr>
            <a:norm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Conclusion</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6B58BC7-0C5B-66CB-8C01-277F86BF8606}"/>
              </a:ext>
            </a:extLst>
          </p:cNvPr>
          <p:cNvSpPr>
            <a:spLocks noGrp="1"/>
          </p:cNvSpPr>
          <p:nvPr>
            <p:ph idx="1"/>
          </p:nvPr>
        </p:nvSpPr>
        <p:spPr>
          <a:xfrm>
            <a:off x="838200" y="1750143"/>
            <a:ext cx="10515600" cy="2812026"/>
          </a:xfrm>
        </p:spPr>
        <p:txBody>
          <a:bodyPr>
            <a:normAutofit/>
          </a:bodyPr>
          <a:lstStyle/>
          <a:p>
            <a:r>
              <a:rPr lang="en-US" sz="2400" dirty="0">
                <a:latin typeface="Times New Roman" panose="02020603050405020304" pitchFamily="18" charset="0"/>
                <a:cs typeface="Times New Roman" panose="02020603050405020304" pitchFamily="18" charset="0"/>
              </a:rPr>
              <a:t>Customer churn is primarily driven by short-term contracts, low tenure, and service dissatisfaction rather than gender.</a:t>
            </a:r>
          </a:p>
          <a:p>
            <a:r>
              <a:rPr lang="en-US" sz="2400" dirty="0">
                <a:latin typeface="Times New Roman" panose="02020603050405020304" pitchFamily="18" charset="0"/>
                <a:cs typeface="Times New Roman" panose="02020603050405020304" pitchFamily="18" charset="0"/>
              </a:rPr>
              <a:t>By focusing on early engagement, contract retention, and personalized customer care, the company can significantly reduce churn and improve customer lifetime value.</a:t>
            </a:r>
          </a:p>
        </p:txBody>
      </p:sp>
      <p:pic>
        <p:nvPicPr>
          <p:cNvPr id="5" name="Picture 4">
            <a:extLst>
              <a:ext uri="{FF2B5EF4-FFF2-40B4-BE49-F238E27FC236}">
                <a16:creationId xmlns:a16="http://schemas.microsoft.com/office/drawing/2014/main" id="{7072EEBB-1861-5EA3-74D5-6F5991D40B56}"/>
              </a:ext>
            </a:extLst>
          </p:cNvPr>
          <p:cNvPicPr>
            <a:picLocks noChangeAspect="1"/>
          </p:cNvPicPr>
          <p:nvPr/>
        </p:nvPicPr>
        <p:blipFill>
          <a:blip r:embed="rId2"/>
          <a:stretch>
            <a:fillRect/>
          </a:stretch>
        </p:blipFill>
        <p:spPr>
          <a:xfrm>
            <a:off x="9501292" y="5954879"/>
            <a:ext cx="2530059" cy="670618"/>
          </a:xfrm>
          <a:prstGeom prst="rect">
            <a:avLst/>
          </a:prstGeom>
        </p:spPr>
      </p:pic>
    </p:spTree>
    <p:extLst>
      <p:ext uri="{BB962C8B-B14F-4D97-AF65-F5344CB8AC3E}">
        <p14:creationId xmlns:p14="http://schemas.microsoft.com/office/powerpoint/2010/main" val="608741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950475-85A7-8D46-9FDE-F6ECA93758B3}"/>
              </a:ext>
            </a:extLst>
          </p:cNvPr>
          <p:cNvPicPr>
            <a:picLocks noChangeAspect="1"/>
          </p:cNvPicPr>
          <p:nvPr/>
        </p:nvPicPr>
        <p:blipFill>
          <a:blip r:embed="rId2"/>
          <a:stretch>
            <a:fillRect/>
          </a:stretch>
        </p:blipFill>
        <p:spPr>
          <a:xfrm>
            <a:off x="196644" y="108155"/>
            <a:ext cx="11926529" cy="6587613"/>
          </a:xfrm>
          <a:prstGeom prst="rect">
            <a:avLst/>
          </a:prstGeom>
        </p:spPr>
      </p:pic>
    </p:spTree>
    <p:extLst>
      <p:ext uri="{BB962C8B-B14F-4D97-AF65-F5344CB8AC3E}">
        <p14:creationId xmlns:p14="http://schemas.microsoft.com/office/powerpoint/2010/main" val="4019778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509</TotalTime>
  <Words>1986</Words>
  <Application>Microsoft Office PowerPoint</Application>
  <PresentationFormat>Widescreen</PresentationFormat>
  <Paragraphs>169</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Google Sans</vt:lpstr>
      <vt:lpstr>Times New Roman</vt:lpstr>
      <vt:lpstr>Wingdings</vt:lpstr>
      <vt:lpstr>Office Theme</vt:lpstr>
      <vt:lpstr>PowerPoint Presentation</vt:lpstr>
      <vt:lpstr>Agenda</vt:lpstr>
      <vt:lpstr>Business Problem</vt:lpstr>
      <vt:lpstr>Objective</vt:lpstr>
      <vt:lpstr>Dataset Overview</vt:lpstr>
      <vt:lpstr>Data Cleaning</vt:lpstr>
      <vt:lpstr>Analysis &amp; Visualizations  Dashboard's Structure</vt:lpstr>
      <vt:lpstr>Customer Demographics Analysis</vt:lpstr>
      <vt:lpstr>PowerPoint Presentation</vt:lpstr>
      <vt:lpstr>Service Subscription Analysis </vt:lpstr>
      <vt:lpstr>3. Add-on services by customers who churned </vt:lpstr>
      <vt:lpstr>Contract &amp; Billing Insights</vt:lpstr>
      <vt:lpstr>PowerPoint Presentation</vt:lpstr>
      <vt:lpstr>Churn Prediction &amp; Key Driver</vt:lpstr>
      <vt:lpstr>PowerPoint Presentation</vt:lpstr>
      <vt:lpstr>Key Insights</vt:lpstr>
      <vt:lpstr>Recommendations &amp; Conclusion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Sripada Jain</dc:creator>
  <cp:lastModifiedBy>Sripada Jain</cp:lastModifiedBy>
  <cp:revision>2</cp:revision>
  <dcterms:created xsi:type="dcterms:W3CDTF">2025-10-16T02:54:52Z</dcterms:created>
  <dcterms:modified xsi:type="dcterms:W3CDTF">2025-11-13T15:26:00Z</dcterms:modified>
</cp:coreProperties>
</file>